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86" r:id="rId3"/>
    <p:sldId id="278" r:id="rId4"/>
    <p:sldId id="287" r:id="rId5"/>
    <p:sldId id="268" r:id="rId6"/>
    <p:sldId id="288" r:id="rId7"/>
    <p:sldId id="269" r:id="rId8"/>
    <p:sldId id="271" r:id="rId9"/>
    <p:sldId id="29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0"/>
  </p:normalViewPr>
  <p:slideViewPr>
    <p:cSldViewPr snapToGrid="0">
      <p:cViewPr varScale="1">
        <p:scale>
          <a:sx n="111" d="100"/>
          <a:sy n="111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6E419-7C37-8043-9FBF-D56BD1FD3DA6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F839F-7B1E-1A44-B0C6-8A3A2170AE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47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식사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선호 및 조합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선호 및 조합 </a:t>
            </a:r>
            <a:r>
              <a:rPr lang="ko-KR" altLang="en-US" sz="1100"/>
              <a:t>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96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식사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선호 및 조합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선호 및 조합 </a:t>
            </a:r>
            <a:r>
              <a:rPr lang="ko-KR" altLang="en-US" sz="1100"/>
              <a:t>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3134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식사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선호 및 조합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선호 및 조합 </a:t>
            </a:r>
            <a:r>
              <a:rPr lang="ko-KR" altLang="en-US" sz="1100"/>
              <a:t>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974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식사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선호 및 조합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선호 및 조합 </a:t>
            </a:r>
            <a:r>
              <a:rPr lang="ko-KR" altLang="en-US" sz="1100"/>
              <a:t>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096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z="1000"/>
              <a:t>배경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발명이 어떠한 문제를 해결하기 위한 것인지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000"/>
              <a:t>본 발명의 효과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228600" indent="-228600">
              <a:buAutoNum type="arabicPeriod"/>
            </a:pPr>
            <a:r>
              <a:rPr lang="ko-KR" altLang="en-US" sz="1000"/>
              <a:t>본 발명의 특징</a:t>
            </a:r>
            <a:endParaRPr lang="en-US" altLang="ko-KR" sz="1000"/>
          </a:p>
          <a:p>
            <a:pPr marL="685800" lvl="1" indent="-228600">
              <a:buAutoNum type="arabicPeriod"/>
            </a:pPr>
            <a:r>
              <a:rPr lang="ko-KR" altLang="en-US" sz="1000"/>
              <a:t>전체 개요 </a:t>
            </a:r>
            <a:r>
              <a:rPr lang="en-US" altLang="ko-KR" sz="1000"/>
              <a:t>– </a:t>
            </a:r>
            <a:r>
              <a:rPr lang="ko-KR" altLang="en-US" sz="1000"/>
              <a:t>유전 알고리즘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식사 형태 </a:t>
            </a:r>
            <a:r>
              <a:rPr lang="en-US" altLang="ko-KR" sz="1000"/>
              <a:t>(</a:t>
            </a:r>
            <a:r>
              <a:rPr lang="ko-KR" altLang="en-US" sz="1000"/>
              <a:t>정연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로직 기반 영양평가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sz="1000"/>
              <a:t>그래프 기반 선호 및 조합 평가 </a:t>
            </a:r>
            <a:r>
              <a:rPr lang="en-US" altLang="ko-KR" sz="1000"/>
              <a:t>(</a:t>
            </a:r>
            <a:r>
              <a:rPr lang="ko-KR" altLang="en-US" sz="1000"/>
              <a:t>희정</a:t>
            </a:r>
            <a:r>
              <a:rPr lang="en-US" altLang="ko-KR" sz="1000"/>
              <a:t>)</a:t>
            </a:r>
          </a:p>
          <a:p>
            <a:pPr marL="1143000" lvl="2" indent="-228600">
              <a:buAutoNum type="arabicPeriod"/>
            </a:pPr>
            <a:r>
              <a:rPr lang="ko-KR" altLang="en-US" sz="1000"/>
              <a:t>그래프 만들기</a:t>
            </a:r>
            <a:endParaRPr lang="en-US" altLang="ko-KR" sz="1000"/>
          </a:p>
          <a:p>
            <a:pPr marL="1143000" lvl="2" indent="-228600">
              <a:buAutoNum type="arabicPeriod"/>
            </a:pPr>
            <a:r>
              <a:rPr lang="ko-KR" altLang="en-US" sz="1000"/>
              <a:t>선호 및 조합 </a:t>
            </a:r>
            <a:r>
              <a:rPr lang="ko-KR" altLang="en-US" sz="1100"/>
              <a:t>예측 모델</a:t>
            </a:r>
            <a:endParaRPr lang="en-US" altLang="ko-KR" sz="1100"/>
          </a:p>
          <a:p>
            <a:pPr marL="685800" lvl="1" indent="-228600">
              <a:buAutoNum type="arabicPeriod"/>
            </a:pPr>
            <a:r>
              <a:rPr lang="en-US" altLang="ko-KR" sz="1100"/>
              <a:t>TOPSIS (</a:t>
            </a:r>
            <a:r>
              <a:rPr lang="ko-KR" altLang="en-US" sz="1100"/>
              <a:t>희정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7B542-7D14-574E-882E-74C507F097F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394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CDEE3-011F-99DA-8A74-B431E1A1F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F2A8D-9E63-1A6E-ADE6-B54DC171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D06705-3321-1810-59AD-A54F778A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DD08F-2049-EF87-D43E-9BCF0B83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4DD47-BEF8-67A0-83E8-2C99FF08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594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5183A-C66F-4E1E-EA15-4214E637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47504-0BAA-F647-01CB-570DED573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6CD70-1751-CE37-6458-D55FC3FF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7DF51-918F-E22C-02E6-E44411D6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39B19-8C20-A515-D583-53A04DDB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477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373C2-FD38-5615-AEC6-8B400A39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5AFEEC-9D1E-7471-3EA9-806269574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A574D-4158-A48B-165F-119C0DCB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9A359-5C70-CC03-3B85-35C0B46F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BD9A9-CA43-C472-19DD-8445572E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317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36A99-42ED-9259-054D-0EE6A654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E7888-1362-BEFD-A606-44B8651AD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C72569-4EA8-ACD3-CB9C-0C2B525D3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718833-1904-8EB7-1533-43A3CD4B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D558D5-9C73-01A2-E73B-48D4E429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496F1-96CE-8CD8-A251-C621884F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07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49ADD-3EA4-5DB0-0305-48DEBD12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CC38A-F5D7-F542-F210-C69019B86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F44AF1-9ED1-B1ED-3E00-FC5F50AC0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C690AD-A78F-A172-99E4-046540FB9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50BD09-3738-4834-3508-F3ABE95BD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A4145-F49D-2E48-6ED7-214C1D36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77569A-6157-1A82-CCDF-FA03A1B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5B9ADC-0AFF-AAC1-80D0-67E406B2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032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4F4FB-B4FF-53E6-3F2E-25FFE673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44E3AB-BD0E-59A4-6B85-5475FBFF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A8A635-114F-FD7B-FCED-1553BB75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E97CA-F7A2-23CC-309C-FC2E9BBD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6325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3FECEB-DB72-9ADC-F895-786AF3B7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4449D0-20AA-84F5-4125-5B79C283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EF3C3C-2235-3ED7-59C7-15C315B0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975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4D4ED-99C7-F82F-53B0-8626C56A0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BE116-1000-1BA8-4516-8CADD3A5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C8563-74C4-55AD-B107-5C1C9A9B8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CEE30E-5499-14CF-81F5-F9BAE899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D40A7F-C4AA-20A1-BD3B-17D0AE76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64908-CAC1-61D4-5BD7-81D8782C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086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A6935-EBD6-6871-00DA-8E6B7728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1E2F57-F2F9-C2FB-E174-DCD72C2DB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D701E3-1A99-538E-C6DB-30FD68529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53F486-3AA0-4146-503F-8EBB1EBD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05CC10-D40C-C2FF-03D7-E4868314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62674A-5418-1C98-14B1-CCC0D220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053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4A51B-8144-48F4-9B65-A8814692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6FD1CD-747B-BE3D-4D63-242F795E4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63847-E2F5-C64C-FAC5-ED0E6CA8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ABAA7-6CE2-BA5B-C14E-CAE2767F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F0DB20-2CC0-D99B-6B90-89481794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518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7F42AC-B392-63A0-9CF1-B00011925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B063D9-C5E0-DB22-BDED-CDAB33A9F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A12DC5-961E-C025-B0CD-61917DB4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0F50F-2B65-2830-205D-F8D14767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55527E-58B6-1C31-1493-83F84A90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0323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2E825-3979-E110-7155-370B16169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2A8E88-3D71-BAA7-79B5-99BA58DB9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2F156-D200-86CA-0DE4-F9DB3D3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729B2-C973-42D2-85D2-2EE0BFFF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8646A-6E43-0389-420E-05EE0589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3928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50BD-E032-3654-4741-05ED7112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9908B-1B59-97E4-6AE7-06A74A84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AD9D6-AD6E-BA60-3A1B-F02BFBE2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4E8CE-3056-3987-3652-7979DD3E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F72BB-87BB-0DE0-9F08-097CF4EF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807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4A525-16C7-4317-22C4-599B3ABC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BC424B-9800-809A-2987-F9D42316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DE2F9-F7A7-6B5D-5D65-FA9CA907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A6FEF-A850-3AD4-3F37-3708A3FD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B8DC0-F718-74EE-3B33-1F7561DC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3949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2DC68-CFFE-9E77-9FC4-E8A4244F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F19D5-C985-9686-8A3C-7D5CD9C76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AFB7F-9303-50DC-C550-6AB411AC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CD9625-4BBC-E84C-4251-B784B6AE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FAAD2-DF6F-8C2C-961A-E2714195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C72C3D-BD1C-59C7-5B50-48C84044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6374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F0B29-DECF-0805-F9D2-5E974883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AA0B3-04F1-1250-C227-A92CE49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BDFE91-F826-A033-7045-408F7AD31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7683E3-B855-6347-46E6-0FCAE32A3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D24636-6B6A-A7B0-70D3-3E8D6CFDA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5AD6EE-6002-9B22-846D-377EE16F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110BD1-A2FD-606C-5466-479C91D42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2882A5-E26D-1D7B-538A-00E81C5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68770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9C125-6A9A-AEF0-8E75-A930CA32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47473D-A40F-F21D-DF02-1F0066C6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C23FED-C959-A481-8DDF-C5D5483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78B3FB-3AED-0143-6866-6901D43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66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A1339A-DF67-9D42-7E22-EAB93697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508578-7575-352D-DD2D-A7215930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2D775F-428E-C733-28FA-323CF0B8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4111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54CA3-D66F-A392-FF06-E5C6C0A6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5DAE7-A4F1-A9A0-EE60-6521CBF1C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8C0EA-5DD7-B221-6DEA-BABD19FC7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B7E6B-2FE9-F90D-0481-145BD1F2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23B461-3A4D-6CCE-2422-0615A735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95E30-2FE8-0205-468B-5948C350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36662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568D3-C5CE-B214-CE12-FF21EBD3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F4C293-D112-4AE5-7885-9196B4479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ABFC1-5FED-CB00-73C6-072891444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CEBE18-DFF1-0A0E-164E-7A0C4ADA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EE7981-573E-EEDB-F628-F3EABBBE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D8E7D-C6CB-ACC5-FEBF-81057EEA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8679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CE1FB-9FE0-3DA3-716B-0A220129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F64B5F-C253-9631-F429-C3C96ABBA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20A7-65C8-0D10-DEF9-DFF6A5C1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EA7311-E215-1B1C-9EBC-3FA400DD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4D607-93E3-9DC6-5E32-A5095AAC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2505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98AA55-94E0-8993-A584-A164559BA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C029B1-453C-9AD5-65A3-8F76B4F3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F07AC-DBD6-B125-73E5-8DC198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13F7C-C011-91B5-E301-0D774E9C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3F92B-0E9E-D59E-3462-8C8257B1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028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95C3D3-B8F5-E983-B923-BBB54CCE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E3DB88-671D-F8B1-6952-1856FAB2F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BC825-EBC2-6263-C227-1A552668F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E1269-91A5-0A47-ADE2-F3665CF89A4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B2AE6-0455-CD74-4FB4-0B12709BA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776062-2B97-FB6D-8AA3-1146E4006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91DF3-B380-3F41-A3DA-0438E05EA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055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862470-3693-7045-A0F3-30A0BA19D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89554-8AEF-2597-C518-E3A76C181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BEE91-233E-FE2C-0B22-A85F41001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193DF-E0B3-BA4B-AF3D-EA354F699BF2}" type="datetimeFigureOut">
              <a:rPr kumimoji="1" lang="ko-KR" altLang="en-US" smtClean="0"/>
              <a:t>2024. 9. 9.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9B973-8804-5EE3-2A10-D43E3F808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D9D7B-1EFA-29F9-5690-051E53AE0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2B26E-A25A-BA40-823C-6B2AEE6A36F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085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| (300)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식사 평가 모델 생성 모듈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(320)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맞춤 선호 및 조합 평가 모델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1F443C-D694-44EF-885B-0D25C20DB182}"/>
              </a:ext>
            </a:extLst>
          </p:cNvPr>
          <p:cNvGrpSpPr/>
          <p:nvPr/>
        </p:nvGrpSpPr>
        <p:grpSpPr>
          <a:xfrm>
            <a:off x="537692" y="1266613"/>
            <a:ext cx="5346096" cy="5192186"/>
            <a:chOff x="6564855" y="1077964"/>
            <a:chExt cx="5346096" cy="5274724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01F6A1D-9EF8-4E60-9B1C-ECD76BB2E045}"/>
                </a:ext>
              </a:extLst>
            </p:cNvPr>
            <p:cNvSpPr/>
            <p:nvPr/>
          </p:nvSpPr>
          <p:spPr>
            <a:xfrm>
              <a:off x="6564855" y="1117617"/>
              <a:ext cx="4381024" cy="523507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D171FCE-99E7-48A1-8D53-61645654A050}"/>
                </a:ext>
              </a:extLst>
            </p:cNvPr>
            <p:cNvSpPr/>
            <p:nvPr/>
          </p:nvSpPr>
          <p:spPr>
            <a:xfrm>
              <a:off x="6713927" y="3061196"/>
              <a:ext cx="3143163" cy="198455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1404000" rtlCol="0" anchor="ctr"/>
            <a:lstStyle/>
            <a:p>
              <a:pPr algn="ctr"/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GNN</a:t>
              </a:r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 모델 구축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54" name="구부러진 연결선 20">
              <a:extLst>
                <a:ext uri="{FF2B5EF4-FFF2-40B4-BE49-F238E27FC236}">
                  <a16:creationId xmlns:a16="http://schemas.microsoft.com/office/drawing/2014/main" id="{890363CB-938F-4CE2-9326-2E62EE55C0E6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9897275" y="3117849"/>
              <a:ext cx="130022" cy="95996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BE565D-CEEF-4225-A97C-7A3049C35E92}"/>
                </a:ext>
              </a:extLst>
            </p:cNvPr>
            <p:cNvSpPr txBox="1"/>
            <p:nvPr/>
          </p:nvSpPr>
          <p:spPr>
            <a:xfrm>
              <a:off x="10027297" y="293318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322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79D9C39-65BA-4F4A-A93C-EB2CBA0A4851}"/>
                </a:ext>
              </a:extLst>
            </p:cNvPr>
            <p:cNvSpPr/>
            <p:nvPr/>
          </p:nvSpPr>
          <p:spPr>
            <a:xfrm>
              <a:off x="6713927" y="1930873"/>
              <a:ext cx="3143163" cy="7774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이종 그래프 구축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8FCC2FA5-ED9C-4377-BC30-FD3B608E0CF2}"/>
                </a:ext>
              </a:extLst>
            </p:cNvPr>
            <p:cNvCxnSpPr>
              <a:cxnSpLocks/>
              <a:stCxn id="72" idx="2"/>
              <a:endCxn id="52" idx="0"/>
            </p:cNvCxnSpPr>
            <p:nvPr/>
          </p:nvCxnSpPr>
          <p:spPr>
            <a:xfrm>
              <a:off x="8285509" y="2708365"/>
              <a:ext cx="0" cy="3528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구부러진 연결선 20">
              <a:extLst>
                <a:ext uri="{FF2B5EF4-FFF2-40B4-BE49-F238E27FC236}">
                  <a16:creationId xmlns:a16="http://schemas.microsoft.com/office/drawing/2014/main" id="{5FAB1067-E7FE-470F-B521-C8AF176922ED}"/>
                </a:ext>
              </a:extLst>
            </p:cNvPr>
            <p:cNvCxnSpPr>
              <a:cxnSpLocks/>
              <a:stCxn id="72" idx="3"/>
              <a:endCxn id="85" idx="1"/>
            </p:cNvCxnSpPr>
            <p:nvPr/>
          </p:nvCxnSpPr>
          <p:spPr>
            <a:xfrm flipV="1">
              <a:off x="9857090" y="2175916"/>
              <a:ext cx="170207" cy="143703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AFCF26C-37B1-4DA5-9FB6-0F67EF48EED6}"/>
                </a:ext>
              </a:extLst>
            </p:cNvPr>
            <p:cNvSpPr txBox="1"/>
            <p:nvPr/>
          </p:nvSpPr>
          <p:spPr>
            <a:xfrm>
              <a:off x="10027297" y="199125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321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E2F968C-039F-42B2-BD05-28DC7B4F118A}"/>
                </a:ext>
              </a:extLst>
            </p:cNvPr>
            <p:cNvSpPr/>
            <p:nvPr/>
          </p:nvSpPr>
          <p:spPr>
            <a:xfrm>
              <a:off x="6713927" y="5398585"/>
              <a:ext cx="3143163" cy="77749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ysClr val="windowText" lastClr="000000"/>
                  </a:solidFill>
                  <a:latin typeface="+mn-ea"/>
                </a:rPr>
                <a:t>선호도 및 조합 모델 학습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437E2CD7-7F73-4111-9BA7-1454FD83B85A}"/>
                </a:ext>
              </a:extLst>
            </p:cNvPr>
            <p:cNvCxnSpPr>
              <a:cxnSpLocks/>
              <a:stCxn id="52" idx="2"/>
              <a:endCxn id="92" idx="0"/>
            </p:cNvCxnSpPr>
            <p:nvPr/>
          </p:nvCxnSpPr>
          <p:spPr>
            <a:xfrm>
              <a:off x="8285509" y="5045754"/>
              <a:ext cx="0" cy="3528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구부러진 연결선 20">
              <a:extLst>
                <a:ext uri="{FF2B5EF4-FFF2-40B4-BE49-F238E27FC236}">
                  <a16:creationId xmlns:a16="http://schemas.microsoft.com/office/drawing/2014/main" id="{A2FB68D9-495C-48CC-B221-2C069EA3DE1E}"/>
                </a:ext>
              </a:extLst>
            </p:cNvPr>
            <p:cNvCxnSpPr>
              <a:cxnSpLocks/>
              <a:stCxn id="92" idx="3"/>
              <a:endCxn id="95" idx="1"/>
            </p:cNvCxnSpPr>
            <p:nvPr/>
          </p:nvCxnSpPr>
          <p:spPr>
            <a:xfrm flipV="1">
              <a:off x="9857090" y="5680478"/>
              <a:ext cx="170207" cy="106852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F08B65F-5594-4A3A-8C6D-E3B7B3800DAE}"/>
                </a:ext>
              </a:extLst>
            </p:cNvPr>
            <p:cNvSpPr txBox="1"/>
            <p:nvPr/>
          </p:nvSpPr>
          <p:spPr>
            <a:xfrm>
              <a:off x="10027297" y="549581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323</a:t>
              </a:r>
              <a:endParaRPr lang="ko-KR" altLang="en-US" dirty="0">
                <a:latin typeface="+mn-ea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8CB581D6-A998-48C6-996D-D6A2C8A716CD}"/>
                </a:ext>
              </a:extLst>
            </p:cNvPr>
            <p:cNvGrpSpPr/>
            <p:nvPr/>
          </p:nvGrpSpPr>
          <p:grpSpPr>
            <a:xfrm>
              <a:off x="6787959" y="3727652"/>
              <a:ext cx="2997185" cy="1166099"/>
              <a:chOff x="6787959" y="3626869"/>
              <a:chExt cx="2997185" cy="1257085"/>
            </a:xfrm>
          </p:grpSpPr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E69F0E1-1280-4A67-A084-07D25EEC66DC}"/>
                  </a:ext>
                </a:extLst>
              </p:cNvPr>
              <p:cNvSpPr/>
              <p:nvPr/>
            </p:nvSpPr>
            <p:spPr>
              <a:xfrm>
                <a:off x="6787959" y="3626869"/>
                <a:ext cx="2997185" cy="5278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ysClr val="windowText" lastClr="000000"/>
                    </a:solidFill>
                    <a:latin typeface="+mn-ea"/>
                  </a:rPr>
                  <a:t>그래프 신경망 인코더 구축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EC35F7C3-6DA9-40E4-A87D-6F089F7E0F39}"/>
                  </a:ext>
                </a:extLst>
              </p:cNvPr>
              <p:cNvSpPr/>
              <p:nvPr/>
            </p:nvSpPr>
            <p:spPr>
              <a:xfrm>
                <a:off x="6787959" y="4356062"/>
                <a:ext cx="2997185" cy="5278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ysClr val="windowText" lastClr="000000"/>
                    </a:solidFill>
                    <a:latin typeface="+mn-ea"/>
                  </a:rPr>
                  <a:t>선호도 및 조합 디코더 구축</a:t>
                </a:r>
                <a:endParaRPr lang="en-US" altLang="ko-KR" sz="16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6BEC6805-7BD2-4424-83F0-989CD332B3BE}"/>
                  </a:ext>
                </a:extLst>
              </p:cNvPr>
              <p:cNvCxnSpPr>
                <a:cxnSpLocks/>
                <a:stCxn id="75" idx="2"/>
                <a:endCxn id="76" idx="0"/>
              </p:cNvCxnSpPr>
              <p:nvPr/>
            </p:nvCxnSpPr>
            <p:spPr>
              <a:xfrm>
                <a:off x="8286552" y="4154759"/>
                <a:ext cx="0" cy="20130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구부러진 연결선 20">
              <a:extLst>
                <a:ext uri="{FF2B5EF4-FFF2-40B4-BE49-F238E27FC236}">
                  <a16:creationId xmlns:a16="http://schemas.microsoft.com/office/drawing/2014/main" id="{29C41473-5F46-4AAB-B947-077725BE85B7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 flipV="1">
              <a:off x="10945879" y="1262630"/>
              <a:ext cx="400494" cy="18466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A238C52-AFBE-4C6C-880E-1D00EC762437}"/>
                </a:ext>
              </a:extLst>
            </p:cNvPr>
            <p:cNvSpPr txBox="1"/>
            <p:nvPr/>
          </p:nvSpPr>
          <p:spPr>
            <a:xfrm>
              <a:off x="11346373" y="1077964"/>
              <a:ext cx="56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320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7B5D40A-07D4-4AF5-93E3-BC8C7EFA49FB}"/>
                </a:ext>
              </a:extLst>
            </p:cNvPr>
            <p:cNvSpPr/>
            <p:nvPr/>
          </p:nvSpPr>
          <p:spPr>
            <a:xfrm>
              <a:off x="6859892" y="1316291"/>
              <a:ext cx="3790950" cy="37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선호도 및 조합 평가 모델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6C4E4B1-EEAB-49C3-B676-2463F67E2F33}"/>
              </a:ext>
            </a:extLst>
          </p:cNvPr>
          <p:cNvSpPr txBox="1"/>
          <p:nvPr/>
        </p:nvSpPr>
        <p:spPr>
          <a:xfrm>
            <a:off x="203625" y="710667"/>
            <a:ext cx="1178475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1">
                <a:solidFill>
                  <a:srgbClr val="0070C0"/>
                </a:solidFill>
              </a:rPr>
              <a:t>[320] </a:t>
            </a:r>
            <a:r>
              <a:rPr lang="ko-KR" altLang="en-US" sz="1600" b="1">
                <a:solidFill>
                  <a:srgbClr val="0070C0"/>
                </a:solidFill>
              </a:rPr>
              <a:t>선호도 및 조합을 평가하는 모델</a:t>
            </a:r>
            <a:endParaRPr lang="ko-KR" altLang="ko-K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C06B8E-754F-4A34-874B-652427B5AA58}"/>
              </a:ext>
            </a:extLst>
          </p:cNvPr>
          <p:cNvSpPr txBox="1"/>
          <p:nvPr/>
        </p:nvSpPr>
        <p:spPr>
          <a:xfrm>
            <a:off x="5804245" y="1335212"/>
            <a:ext cx="6092382" cy="52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동일한 이종 그래프를 입력 데이터로 받으나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rgbClr val="0070C0"/>
                </a:solidFill>
              </a:rPr>
              <a:t>개별 목적을 가지고 학습되는 두 가지 모델을 포함</a:t>
            </a:r>
            <a:r>
              <a:rPr lang="ko-KR" altLang="en-US" sz="1400" dirty="0"/>
              <a:t>하고 있음</a:t>
            </a:r>
            <a:r>
              <a:rPr lang="en-US" altLang="ko-KR" sz="1400" dirty="0"/>
              <a:t>. </a:t>
            </a:r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첫 번째 모델</a:t>
            </a:r>
            <a:r>
              <a:rPr lang="en-US" altLang="ko-KR" sz="1400"/>
              <a:t>:</a:t>
            </a:r>
            <a:r>
              <a:rPr lang="ko-KR" altLang="en-US" sz="1400"/>
              <a:t> 사용자와 식품 간의 선호도를 예측하는 선호도 모델로 사용자 노드와 식품 노드 간의 </a:t>
            </a:r>
            <a:r>
              <a:rPr lang="en-US" altLang="ko-KR" sz="1400"/>
              <a:t>'eats' </a:t>
            </a:r>
            <a:r>
              <a:rPr lang="ko-KR" altLang="en-US" sz="1400"/>
              <a:t>관계를 예측</a:t>
            </a:r>
            <a:endParaRPr lang="en-US" altLang="ko-KR" sz="1400" dirty="0"/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두 번째 </a:t>
            </a:r>
            <a:r>
              <a:rPr lang="ko-KR" altLang="en-US" sz="1400"/>
              <a:t>모델</a:t>
            </a:r>
            <a:r>
              <a:rPr lang="en-US" altLang="ko-KR" sz="1400"/>
              <a:t>:</a:t>
            </a:r>
            <a:r>
              <a:rPr lang="ko-KR" altLang="en-US" sz="1400"/>
              <a:t> 식품과 식품 간의 조합을 예측하는 조합 모델로 식품 노드 간의 ＇</a:t>
            </a:r>
            <a:r>
              <a:rPr lang="en-US" altLang="ko-KR" sz="1400"/>
              <a:t>pairs</a:t>
            </a:r>
            <a:r>
              <a:rPr lang="ko-KR" altLang="en-US" sz="1400"/>
              <a:t>＇</a:t>
            </a:r>
            <a:r>
              <a:rPr lang="en-US" altLang="ko-KR" sz="1400"/>
              <a:t> </a:t>
            </a:r>
            <a:r>
              <a:rPr lang="ko-KR" altLang="en-US" sz="1400"/>
              <a:t>관계를 예측</a:t>
            </a:r>
            <a:endParaRPr lang="en-US" altLang="ko-KR" sz="140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상세 프로세스는 하기 세 가지 단계로 구성됨</a:t>
            </a:r>
            <a:r>
              <a:rPr lang="en-US" altLang="ko-KR" sz="1400" dirty="0"/>
              <a:t>.</a:t>
            </a:r>
          </a:p>
          <a:p>
            <a:pPr marL="800100" lvl="1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400" dirty="0"/>
              <a:t>(321) </a:t>
            </a:r>
            <a:r>
              <a:rPr lang="ko-KR" altLang="en-US" sz="1400" dirty="0"/>
              <a:t>사용자</a:t>
            </a:r>
            <a:r>
              <a:rPr lang="en-US" altLang="ko-KR" sz="1400" dirty="0"/>
              <a:t>(U), </a:t>
            </a:r>
            <a:r>
              <a:rPr lang="ko-KR" altLang="en-US" sz="1400" dirty="0"/>
              <a:t>음식</a:t>
            </a:r>
            <a:r>
              <a:rPr lang="en-US" altLang="ko-KR" sz="1400" dirty="0"/>
              <a:t>(F), </a:t>
            </a:r>
            <a:r>
              <a:rPr lang="ko-KR" altLang="en-US" sz="1400" dirty="0"/>
              <a:t>주재료</a:t>
            </a:r>
            <a:r>
              <a:rPr lang="en-US" altLang="ko-KR" sz="1400" dirty="0"/>
              <a:t>(MI), </a:t>
            </a:r>
            <a:r>
              <a:rPr lang="ko-KR" altLang="en-US" sz="1400" dirty="0"/>
              <a:t>맛 재료</a:t>
            </a:r>
            <a:r>
              <a:rPr lang="en-US" altLang="ko-KR" sz="1400" dirty="0"/>
              <a:t>(FI), </a:t>
            </a:r>
            <a:r>
              <a:rPr lang="ko-KR" altLang="en-US" sz="1400" dirty="0"/>
              <a:t>끼니</a:t>
            </a:r>
            <a:r>
              <a:rPr lang="en-US" altLang="ko-KR" sz="1400" dirty="0"/>
              <a:t>(M)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노드로 하고</a:t>
            </a:r>
            <a:r>
              <a:rPr lang="en-US" altLang="ko-KR" sz="1400" dirty="0"/>
              <a:t>, </a:t>
            </a:r>
            <a:r>
              <a:rPr lang="ko-KR" altLang="en-US" sz="1400" dirty="0"/>
              <a:t>각 노드 간의 관계를 </a:t>
            </a:r>
            <a:r>
              <a:rPr lang="ko-KR" altLang="en-US" sz="1400" dirty="0" err="1"/>
              <a:t>엣지로</a:t>
            </a:r>
            <a:r>
              <a:rPr lang="ko-KR" altLang="en-US" sz="1400" dirty="0"/>
              <a:t> 표현하는 </a:t>
            </a:r>
            <a:r>
              <a:rPr lang="ko-KR" altLang="en-US" sz="1400" b="1" dirty="0">
                <a:solidFill>
                  <a:srgbClr val="0070C0"/>
                </a:solidFill>
              </a:rPr>
              <a:t>이종 그래프를 구축</a:t>
            </a:r>
            <a:r>
              <a:rPr lang="ko-KR" altLang="en-US" sz="1400" dirty="0"/>
              <a:t>하는 단계</a:t>
            </a:r>
            <a:r>
              <a:rPr lang="en-US" altLang="ko-KR" sz="1400" dirty="0"/>
              <a:t>;</a:t>
            </a:r>
          </a:p>
          <a:p>
            <a:pPr marL="800100" lvl="1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400" dirty="0"/>
              <a:t>(322) </a:t>
            </a:r>
            <a:r>
              <a:rPr lang="ko-KR" altLang="en-US" sz="1400" dirty="0"/>
              <a:t>각 노드의 </a:t>
            </a:r>
            <a:r>
              <a:rPr lang="ko-KR" altLang="en-US" sz="1400" dirty="0" err="1"/>
              <a:t>임베딩</a:t>
            </a:r>
            <a:r>
              <a:rPr lang="ko-KR" altLang="en-US" sz="1400" dirty="0"/>
              <a:t> 벡터를 생성하는 </a:t>
            </a:r>
            <a:r>
              <a:rPr lang="ko-KR" altLang="en-US" sz="1400" b="1" dirty="0">
                <a:solidFill>
                  <a:srgbClr val="0070C0"/>
                </a:solidFill>
              </a:rPr>
              <a:t>그래프 신경망 인코더</a:t>
            </a:r>
            <a:r>
              <a:rPr lang="ko-KR" altLang="en-US" sz="1400" dirty="0"/>
              <a:t>와 사용자 노드와 식품 노드 간</a:t>
            </a:r>
            <a:r>
              <a:rPr lang="en-US" altLang="ko-KR" sz="1400" dirty="0"/>
              <a:t>, </a:t>
            </a:r>
            <a:r>
              <a:rPr lang="ko-KR" altLang="en-US" sz="1400" dirty="0"/>
              <a:t>혹은 두 가지 식품 노드 간의 </a:t>
            </a:r>
            <a:r>
              <a:rPr lang="ko-KR" altLang="en-US" sz="1400" dirty="0" err="1"/>
              <a:t>엣지를</a:t>
            </a:r>
            <a:r>
              <a:rPr lang="ko-KR" altLang="en-US" sz="1400" dirty="0"/>
              <a:t> 예측하는 </a:t>
            </a:r>
            <a:r>
              <a:rPr lang="en-US" altLang="ko-KR" sz="1400" b="1" dirty="0">
                <a:solidFill>
                  <a:srgbClr val="0070C0"/>
                </a:solidFill>
              </a:rPr>
              <a:t>MLP </a:t>
            </a:r>
            <a:r>
              <a:rPr lang="ko-KR" altLang="en-US" sz="1400" b="1" dirty="0">
                <a:solidFill>
                  <a:srgbClr val="0070C0"/>
                </a:solidFill>
              </a:rPr>
              <a:t>기반의 </a:t>
            </a:r>
            <a:r>
              <a:rPr lang="ko-KR" altLang="en-US" sz="1400" b="1" dirty="0" err="1">
                <a:solidFill>
                  <a:srgbClr val="0070C0"/>
                </a:solidFill>
              </a:rPr>
              <a:t>디코더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</a:t>
            </a:r>
            <a:r>
              <a:rPr lang="en-US" altLang="ko-KR" sz="1400" dirty="0"/>
              <a:t>end-to-end</a:t>
            </a:r>
            <a:r>
              <a:rPr lang="ko-KR" altLang="en-US" sz="1400" dirty="0"/>
              <a:t>로 연결하여 </a:t>
            </a:r>
            <a:r>
              <a:rPr lang="ko-KR" altLang="en-US" sz="1400" b="1" dirty="0">
                <a:solidFill>
                  <a:srgbClr val="0070C0"/>
                </a:solidFill>
              </a:rPr>
              <a:t>통합 모델을 구성</a:t>
            </a:r>
            <a:r>
              <a:rPr lang="ko-KR" altLang="en-US" sz="1400" dirty="0"/>
              <a:t>하는 단계</a:t>
            </a:r>
            <a:r>
              <a:rPr lang="en-US" altLang="ko-KR" sz="1400" dirty="0"/>
              <a:t>;</a:t>
            </a:r>
          </a:p>
          <a:p>
            <a:pPr marL="800100" lvl="1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400" dirty="0"/>
              <a:t>(323) </a:t>
            </a:r>
            <a:r>
              <a:rPr lang="ko-KR" altLang="en-US" sz="1400" b="1" dirty="0">
                <a:solidFill>
                  <a:srgbClr val="0070C0"/>
                </a:solidFill>
              </a:rPr>
              <a:t>이종 그래프 데이터를 바탕으로 손실 함수를 계산하여 모델을 학습</a:t>
            </a:r>
            <a:r>
              <a:rPr lang="ko-KR" altLang="en-US" sz="1400" dirty="0"/>
              <a:t>시키는 단계</a:t>
            </a:r>
            <a:r>
              <a:rPr lang="en-US" altLang="ko-KR" sz="1400" dirty="0"/>
              <a:t>;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7A5C50-216D-48F0-9F50-F8853DDD68A9}"/>
              </a:ext>
            </a:extLst>
          </p:cNvPr>
          <p:cNvSpPr/>
          <p:nvPr/>
        </p:nvSpPr>
        <p:spPr>
          <a:xfrm>
            <a:off x="537692" y="6527080"/>
            <a:ext cx="4381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도면 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5.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사용자 맞춤 선호 및 조합 평가 모델</a:t>
            </a:r>
          </a:p>
        </p:txBody>
      </p:sp>
    </p:spTree>
    <p:extLst>
      <p:ext uri="{BB962C8B-B14F-4D97-AF65-F5344CB8AC3E}">
        <p14:creationId xmlns:p14="http://schemas.microsoft.com/office/powerpoint/2010/main" val="21566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| (300)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식사 평가 모델 생성 모듈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(320)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맞춤 선호 및 조합 평가 모델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F09A6D-083C-494F-88B0-DB2ED37C7429}"/>
              </a:ext>
            </a:extLst>
          </p:cNvPr>
          <p:cNvGrpSpPr/>
          <p:nvPr/>
        </p:nvGrpSpPr>
        <p:grpSpPr>
          <a:xfrm>
            <a:off x="561909" y="1335549"/>
            <a:ext cx="4707676" cy="5056460"/>
            <a:chOff x="3342815" y="904904"/>
            <a:chExt cx="5094037" cy="567790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2044CEB-AACF-42D2-87B9-075102E4C09B}"/>
                </a:ext>
              </a:extLst>
            </p:cNvPr>
            <p:cNvGrpSpPr/>
            <p:nvPr/>
          </p:nvGrpSpPr>
          <p:grpSpPr>
            <a:xfrm>
              <a:off x="3342815" y="904904"/>
              <a:ext cx="4947442" cy="3171397"/>
              <a:chOff x="2922748" y="2087154"/>
              <a:chExt cx="4947442" cy="3171397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855C7B70-16A0-484B-9158-89B8AF5D1B3D}"/>
                  </a:ext>
                </a:extLst>
              </p:cNvPr>
              <p:cNvSpPr/>
              <p:nvPr/>
            </p:nvSpPr>
            <p:spPr>
              <a:xfrm>
                <a:off x="2922748" y="2995255"/>
                <a:ext cx="900000" cy="900000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U</a:t>
                </a: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A1D326A1-2756-4668-BB1D-417E951193D2}"/>
                  </a:ext>
                </a:extLst>
              </p:cNvPr>
              <p:cNvSpPr/>
              <p:nvPr/>
            </p:nvSpPr>
            <p:spPr>
              <a:xfrm>
                <a:off x="4782999" y="2997853"/>
                <a:ext cx="900000" cy="90000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</a:t>
                </a:r>
              </a:p>
            </p:txBody>
          </p:sp>
          <p:sp>
            <p:nvSpPr>
              <p:cNvPr id="55" name="다이아몬드 54">
                <a:extLst>
                  <a:ext uri="{FF2B5EF4-FFF2-40B4-BE49-F238E27FC236}">
                    <a16:creationId xmlns:a16="http://schemas.microsoft.com/office/drawing/2014/main" id="{41AABD55-37CB-4031-8993-0B606D60C3C8}"/>
                  </a:ext>
                </a:extLst>
              </p:cNvPr>
              <p:cNvSpPr/>
              <p:nvPr/>
            </p:nvSpPr>
            <p:spPr>
              <a:xfrm>
                <a:off x="4782999" y="4358551"/>
                <a:ext cx="900000" cy="900000"/>
              </a:xfrm>
              <a:prstGeom prst="diamond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</a:t>
                </a:r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2F800BDD-377E-4DE3-919F-79E7D120FC66}"/>
                  </a:ext>
                </a:extLst>
              </p:cNvPr>
              <p:cNvCxnSpPr>
                <a:cxnSpLocks/>
                <a:stCxn id="52" idx="3"/>
                <a:endCxn id="53" idx="2"/>
              </p:cNvCxnSpPr>
              <p:nvPr/>
            </p:nvCxnSpPr>
            <p:spPr>
              <a:xfrm>
                <a:off x="3822748" y="3445255"/>
                <a:ext cx="960251" cy="25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33FDAA5-51C1-486F-958D-3BA3917DC3B4}"/>
                  </a:ext>
                </a:extLst>
              </p:cNvPr>
              <p:cNvSpPr/>
              <p:nvPr/>
            </p:nvSpPr>
            <p:spPr>
              <a:xfrm>
                <a:off x="4065939" y="3087192"/>
                <a:ext cx="53412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AF1A9F2E-C1D5-4B09-B929-1F8EEB98E377}"/>
                  </a:ext>
                </a:extLst>
              </p:cNvPr>
              <p:cNvCxnSpPr>
                <a:cxnSpLocks/>
                <a:stCxn id="53" idx="6"/>
              </p:cNvCxnSpPr>
              <p:nvPr/>
            </p:nvCxnSpPr>
            <p:spPr>
              <a:xfrm flipV="1">
                <a:off x="5682999" y="2644369"/>
                <a:ext cx="1143191" cy="803484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869EA25F-FCA8-4D89-99B0-853FDB0AF799}"/>
                  </a:ext>
                </a:extLst>
              </p:cNvPr>
              <p:cNvCxnSpPr>
                <a:cxnSpLocks/>
                <a:stCxn id="53" idx="4"/>
                <a:endCxn id="55" idx="0"/>
              </p:cNvCxnSpPr>
              <p:nvPr/>
            </p:nvCxnSpPr>
            <p:spPr>
              <a:xfrm>
                <a:off x="5232999" y="3897853"/>
                <a:ext cx="0" cy="460698"/>
              </a:xfrm>
              <a:prstGeom prst="straightConnector1">
                <a:avLst/>
              </a:prstGeom>
              <a:ln w="28575">
                <a:prstDash val="sys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250F421C-31F6-4EAB-9D4F-BCF03E66A5E0}"/>
                  </a:ext>
                </a:extLst>
              </p:cNvPr>
              <p:cNvSpPr/>
              <p:nvPr/>
            </p:nvSpPr>
            <p:spPr>
              <a:xfrm>
                <a:off x="4357578" y="3940984"/>
                <a:ext cx="90204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eaten_at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5" name="원호 64">
                <a:extLst>
                  <a:ext uri="{FF2B5EF4-FFF2-40B4-BE49-F238E27FC236}">
                    <a16:creationId xmlns:a16="http://schemas.microsoft.com/office/drawing/2014/main" id="{751C6E12-C647-4E46-A1E9-3167351C8FB0}"/>
                  </a:ext>
                </a:extLst>
              </p:cNvPr>
              <p:cNvSpPr/>
              <p:nvPr/>
            </p:nvSpPr>
            <p:spPr>
              <a:xfrm>
                <a:off x="4816072" y="2156958"/>
                <a:ext cx="833854" cy="892944"/>
              </a:xfrm>
              <a:prstGeom prst="arc">
                <a:avLst>
                  <a:gd name="adj1" fmla="val 7104086"/>
                  <a:gd name="adj2" fmla="val 3665856"/>
                </a:avLst>
              </a:prstGeom>
              <a:ln w="28575">
                <a:prstDash val="dash"/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56259B71-A632-478E-A2CC-CF10D2357B5B}"/>
                  </a:ext>
                </a:extLst>
              </p:cNvPr>
              <p:cNvSpPr/>
              <p:nvPr/>
            </p:nvSpPr>
            <p:spPr>
              <a:xfrm>
                <a:off x="4934424" y="2423517"/>
                <a:ext cx="5971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pairs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" name="오각형 53">
                <a:extLst>
                  <a:ext uri="{FF2B5EF4-FFF2-40B4-BE49-F238E27FC236}">
                    <a16:creationId xmlns:a16="http://schemas.microsoft.com/office/drawing/2014/main" id="{C228C121-B54F-43C5-9372-6D6F2CEE2698}"/>
                  </a:ext>
                </a:extLst>
              </p:cNvPr>
              <p:cNvSpPr/>
              <p:nvPr/>
            </p:nvSpPr>
            <p:spPr>
              <a:xfrm>
                <a:off x="6898190" y="2087154"/>
                <a:ext cx="900000" cy="900000"/>
              </a:xfrm>
              <a:prstGeom prst="pentagon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14400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MI</a:t>
                </a:r>
              </a:p>
            </p:txBody>
          </p:sp>
          <p:sp>
            <p:nvSpPr>
              <p:cNvPr id="82" name="육각형 81">
                <a:extLst>
                  <a:ext uri="{FF2B5EF4-FFF2-40B4-BE49-F238E27FC236}">
                    <a16:creationId xmlns:a16="http://schemas.microsoft.com/office/drawing/2014/main" id="{32BB0B22-5A2A-4F9E-944B-19013CA64CF6}"/>
                  </a:ext>
                </a:extLst>
              </p:cNvPr>
              <p:cNvSpPr/>
              <p:nvPr/>
            </p:nvSpPr>
            <p:spPr>
              <a:xfrm>
                <a:off x="6826190" y="3908551"/>
                <a:ext cx="1044000" cy="900000"/>
              </a:xfrm>
              <a:prstGeom prst="hexagon">
                <a:avLst>
                  <a:gd name="adj" fmla="val 26499"/>
                  <a:gd name="vf" fmla="val 115470"/>
                </a:avLst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FI</a:t>
                </a:r>
              </a:p>
            </p:txBody>
          </p: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E856135B-A51C-4E04-976A-90E140EB7171}"/>
                  </a:ext>
                </a:extLst>
              </p:cNvPr>
              <p:cNvCxnSpPr>
                <a:cxnSpLocks/>
                <a:stCxn id="53" idx="6"/>
                <a:endCxn id="82" idx="3"/>
              </p:cNvCxnSpPr>
              <p:nvPr/>
            </p:nvCxnSpPr>
            <p:spPr>
              <a:xfrm>
                <a:off x="5682999" y="3447853"/>
                <a:ext cx="1143191" cy="910698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C2903B93-D726-4B07-94F8-DE3C12E05A07}"/>
                  </a:ext>
                </a:extLst>
              </p:cNvPr>
              <p:cNvSpPr/>
              <p:nvPr/>
            </p:nvSpPr>
            <p:spPr>
              <a:xfrm>
                <a:off x="5958054" y="3291366"/>
                <a:ext cx="90120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contains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A1A75F99-C8B7-42D0-82F1-2288EA3871D8}"/>
                </a:ext>
              </a:extLst>
            </p:cNvPr>
            <p:cNvSpPr/>
            <p:nvPr/>
          </p:nvSpPr>
          <p:spPr>
            <a:xfrm>
              <a:off x="3698079" y="4284020"/>
              <a:ext cx="360000" cy="36000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78FBEF3-BACB-4F46-90CD-D4514038E8C7}"/>
                </a:ext>
              </a:extLst>
            </p:cNvPr>
            <p:cNvSpPr/>
            <p:nvPr/>
          </p:nvSpPr>
          <p:spPr>
            <a:xfrm>
              <a:off x="4263330" y="4317606"/>
              <a:ext cx="1800000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U: user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452473D3-9AE5-43A0-94D2-3DC87955765F}"/>
                </a:ext>
              </a:extLst>
            </p:cNvPr>
            <p:cNvSpPr/>
            <p:nvPr/>
          </p:nvSpPr>
          <p:spPr>
            <a:xfrm>
              <a:off x="3698079" y="4768717"/>
              <a:ext cx="360000" cy="3600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EFC58720-FD62-47F0-9A48-06093299BF28}"/>
                </a:ext>
              </a:extLst>
            </p:cNvPr>
            <p:cNvSpPr/>
            <p:nvPr/>
          </p:nvSpPr>
          <p:spPr>
            <a:xfrm>
              <a:off x="4263330" y="4772114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F: food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다이아몬드 104">
              <a:extLst>
                <a:ext uri="{FF2B5EF4-FFF2-40B4-BE49-F238E27FC236}">
                  <a16:creationId xmlns:a16="http://schemas.microsoft.com/office/drawing/2014/main" id="{9931CED4-921A-490D-AA19-ADBB12B8F05C}"/>
                </a:ext>
              </a:extLst>
            </p:cNvPr>
            <p:cNvSpPr/>
            <p:nvPr/>
          </p:nvSpPr>
          <p:spPr>
            <a:xfrm>
              <a:off x="3698079" y="6222806"/>
              <a:ext cx="360000" cy="360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다이아몬드 110">
              <a:extLst>
                <a:ext uri="{FF2B5EF4-FFF2-40B4-BE49-F238E27FC236}">
                  <a16:creationId xmlns:a16="http://schemas.microsoft.com/office/drawing/2014/main" id="{FFCB124D-01BA-44DD-83D9-6C44AC82B4DF}"/>
                </a:ext>
              </a:extLst>
            </p:cNvPr>
            <p:cNvSpPr/>
            <p:nvPr/>
          </p:nvSpPr>
          <p:spPr>
            <a:xfrm>
              <a:off x="4263330" y="6258488"/>
              <a:ext cx="1800000" cy="2886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M: meal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육각형 106">
              <a:extLst>
                <a:ext uri="{FF2B5EF4-FFF2-40B4-BE49-F238E27FC236}">
                  <a16:creationId xmlns:a16="http://schemas.microsoft.com/office/drawing/2014/main" id="{5637C287-A14C-4FE5-B890-C3EF08FA0560}"/>
                </a:ext>
              </a:extLst>
            </p:cNvPr>
            <p:cNvSpPr/>
            <p:nvPr/>
          </p:nvSpPr>
          <p:spPr>
            <a:xfrm>
              <a:off x="3698079" y="5738110"/>
              <a:ext cx="360000" cy="360000"/>
            </a:xfrm>
            <a:prstGeom prst="hexagon">
              <a:avLst>
                <a:gd name="adj" fmla="val 23080"/>
                <a:gd name="vf" fmla="val 115470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육각형 112">
              <a:extLst>
                <a:ext uri="{FF2B5EF4-FFF2-40B4-BE49-F238E27FC236}">
                  <a16:creationId xmlns:a16="http://schemas.microsoft.com/office/drawing/2014/main" id="{5DC9C0AD-B083-4EB9-9ED0-CCDC56708CDA}"/>
                </a:ext>
              </a:extLst>
            </p:cNvPr>
            <p:cNvSpPr/>
            <p:nvPr/>
          </p:nvSpPr>
          <p:spPr>
            <a:xfrm>
              <a:off x="4263330" y="57415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FI: flavor_ingredient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왼쪽 대괄호 122">
              <a:extLst>
                <a:ext uri="{FF2B5EF4-FFF2-40B4-BE49-F238E27FC236}">
                  <a16:creationId xmlns:a16="http://schemas.microsoft.com/office/drawing/2014/main" id="{11327736-83F5-4708-AEF6-B7324A4D8972}"/>
                </a:ext>
              </a:extLst>
            </p:cNvPr>
            <p:cNvSpPr/>
            <p:nvPr/>
          </p:nvSpPr>
          <p:spPr>
            <a:xfrm>
              <a:off x="3342815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오각형 123">
              <a:extLst>
                <a:ext uri="{FF2B5EF4-FFF2-40B4-BE49-F238E27FC236}">
                  <a16:creationId xmlns:a16="http://schemas.microsoft.com/office/drawing/2014/main" id="{B7C4915F-0392-4431-8BFD-933916ED560F}"/>
                </a:ext>
              </a:extLst>
            </p:cNvPr>
            <p:cNvSpPr/>
            <p:nvPr/>
          </p:nvSpPr>
          <p:spPr>
            <a:xfrm>
              <a:off x="3698079" y="5256810"/>
              <a:ext cx="360000" cy="360000"/>
            </a:xfrm>
            <a:prstGeom prst="pentagon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오각형 111">
              <a:extLst>
                <a:ext uri="{FF2B5EF4-FFF2-40B4-BE49-F238E27FC236}">
                  <a16:creationId xmlns:a16="http://schemas.microsoft.com/office/drawing/2014/main" id="{D9DDC10D-1C76-4E22-9C75-10C7C2C20637}"/>
                </a:ext>
              </a:extLst>
            </p:cNvPr>
            <p:cNvSpPr/>
            <p:nvPr/>
          </p:nvSpPr>
          <p:spPr>
            <a:xfrm>
              <a:off x="4263330" y="52602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MI: main_ingredient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8365A89D-D8E9-4E34-B788-C7A3A60EBDFC}"/>
                </a:ext>
              </a:extLst>
            </p:cNvPr>
            <p:cNvSpPr/>
            <p:nvPr/>
          </p:nvSpPr>
          <p:spPr>
            <a:xfrm>
              <a:off x="7681851" y="4317606"/>
              <a:ext cx="755001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35" name="타원 109">
              <a:extLst>
                <a:ext uri="{FF2B5EF4-FFF2-40B4-BE49-F238E27FC236}">
                  <a16:creationId xmlns:a16="http://schemas.microsoft.com/office/drawing/2014/main" id="{8E622271-3C1D-4490-B8AD-C04825FC4FD7}"/>
                </a:ext>
              </a:extLst>
            </p:cNvPr>
            <p:cNvSpPr/>
            <p:nvPr/>
          </p:nvSpPr>
          <p:spPr>
            <a:xfrm>
              <a:off x="7681851" y="49229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pairs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39" name="육각형 112">
              <a:extLst>
                <a:ext uri="{FF2B5EF4-FFF2-40B4-BE49-F238E27FC236}">
                  <a16:creationId xmlns:a16="http://schemas.microsoft.com/office/drawing/2014/main" id="{D9BF8EE3-0133-41C5-A1E0-9E2C13149BC1}"/>
                </a:ext>
              </a:extLst>
            </p:cNvPr>
            <p:cNvSpPr/>
            <p:nvPr/>
          </p:nvSpPr>
          <p:spPr>
            <a:xfrm>
              <a:off x="7681851" y="6193918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eaten_at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9" name="왼쪽 대괄호 128">
              <a:extLst>
                <a:ext uri="{FF2B5EF4-FFF2-40B4-BE49-F238E27FC236}">
                  <a16:creationId xmlns:a16="http://schemas.microsoft.com/office/drawing/2014/main" id="{DEDE9662-5DF0-4C39-8EFD-F4A406AE0ED8}"/>
                </a:ext>
              </a:extLst>
            </p:cNvPr>
            <p:cNvSpPr/>
            <p:nvPr/>
          </p:nvSpPr>
          <p:spPr>
            <a:xfrm>
              <a:off x="6674661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오각형 111">
              <a:extLst>
                <a:ext uri="{FF2B5EF4-FFF2-40B4-BE49-F238E27FC236}">
                  <a16:creationId xmlns:a16="http://schemas.microsoft.com/office/drawing/2014/main" id="{F20E4660-7129-45D2-9437-25351CC26E97}"/>
                </a:ext>
              </a:extLst>
            </p:cNvPr>
            <p:cNvSpPr/>
            <p:nvPr/>
          </p:nvSpPr>
          <p:spPr>
            <a:xfrm>
              <a:off x="7681851" y="55584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contains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17E4103E-F400-46AF-AA40-53CE11CCB4D1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4472863"/>
              <a:ext cx="54000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36198CC2-E52C-475D-A1E9-B7C2418C67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738110"/>
              <a:ext cx="540000" cy="0"/>
            </a:xfrm>
            <a:prstGeom prst="straightConnector1">
              <a:avLst/>
            </a:prstGeom>
            <a:ln w="19050">
              <a:prstDash val="lgDashDot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8DC2329A-3F68-43D3-B2A3-D7BE2BF56636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6396121"/>
              <a:ext cx="540000" cy="0"/>
            </a:xfrm>
            <a:prstGeom prst="straightConnector1">
              <a:avLst/>
            </a:prstGeom>
            <a:ln w="19050">
              <a:prstDash val="sys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894EF58B-8C4D-4B57-A12C-5401B5802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125320"/>
              <a:ext cx="540000" cy="0"/>
            </a:xfrm>
            <a:prstGeom prst="straightConnector1">
              <a:avLst/>
            </a:prstGeom>
            <a:ln w="19050">
              <a:prstDash val="dash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156F6C6-3FF8-491E-807D-CE66CB3349A9}"/>
              </a:ext>
            </a:extLst>
          </p:cNvPr>
          <p:cNvSpPr txBox="1"/>
          <p:nvPr/>
        </p:nvSpPr>
        <p:spPr>
          <a:xfrm>
            <a:off x="203625" y="710667"/>
            <a:ext cx="1178475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1">
                <a:solidFill>
                  <a:srgbClr val="7030A0"/>
                </a:solidFill>
              </a:rPr>
              <a:t>[321] </a:t>
            </a:r>
            <a:r>
              <a:rPr lang="ko-KR" altLang="ko-KR" sz="1600" b="1">
                <a:solidFill>
                  <a:srgbClr val="7030A0"/>
                </a:solidFill>
              </a:rPr>
              <a:t>이종 그래프 구축 단</a:t>
            </a:r>
            <a:r>
              <a:rPr lang="ko-KR" altLang="en-US" sz="1600" b="1">
                <a:solidFill>
                  <a:srgbClr val="7030A0"/>
                </a:solidFill>
              </a:rPr>
              <a:t>계</a:t>
            </a:r>
            <a:endParaRPr lang="ko-KR" altLang="ko-KR" b="1">
              <a:solidFill>
                <a:srgbClr val="7030A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AA0FBA-4C6B-4A82-9657-7237077EF209}"/>
              </a:ext>
            </a:extLst>
          </p:cNvPr>
          <p:cNvSpPr txBox="1"/>
          <p:nvPr/>
        </p:nvSpPr>
        <p:spPr>
          <a:xfrm>
            <a:off x="5908845" y="1532710"/>
            <a:ext cx="5893513" cy="433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latinLnBrk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400"/>
              <a:t>이종 그래프</a:t>
            </a:r>
            <a:r>
              <a:rPr lang="en-US" altLang="ko-KR" sz="1400"/>
              <a:t> G=(V, E)</a:t>
            </a:r>
            <a:r>
              <a:rPr lang="ko-KR" altLang="ko-KR" sz="1400"/>
              <a:t>는 </a:t>
            </a:r>
            <a:br>
              <a:rPr lang="en-US" altLang="ko-KR" sz="1400"/>
            </a:br>
            <a:r>
              <a:rPr lang="ko-KR" altLang="ko-KR" sz="1400" b="1">
                <a:solidFill>
                  <a:srgbClr val="7030A0"/>
                </a:solidFill>
              </a:rPr>
              <a:t>사용자</a:t>
            </a:r>
            <a:r>
              <a:rPr lang="en-US" altLang="ko-KR" sz="1400" b="1">
                <a:solidFill>
                  <a:srgbClr val="7030A0"/>
                </a:solidFill>
              </a:rPr>
              <a:t>(U), </a:t>
            </a:r>
            <a:r>
              <a:rPr lang="ko-KR" altLang="ko-KR" sz="1400" b="1">
                <a:solidFill>
                  <a:srgbClr val="7030A0"/>
                </a:solidFill>
              </a:rPr>
              <a:t>음식</a:t>
            </a:r>
            <a:r>
              <a:rPr lang="en-US" altLang="ko-KR" sz="1400" b="1">
                <a:solidFill>
                  <a:srgbClr val="7030A0"/>
                </a:solidFill>
              </a:rPr>
              <a:t>(F), </a:t>
            </a:r>
            <a:r>
              <a:rPr lang="ko-KR" altLang="ko-KR" sz="1400" b="1">
                <a:solidFill>
                  <a:srgbClr val="7030A0"/>
                </a:solidFill>
              </a:rPr>
              <a:t>주재료</a:t>
            </a:r>
            <a:r>
              <a:rPr lang="en-US" altLang="ko-KR" sz="1400" b="1">
                <a:solidFill>
                  <a:srgbClr val="7030A0"/>
                </a:solidFill>
              </a:rPr>
              <a:t>(MI), </a:t>
            </a:r>
            <a:r>
              <a:rPr lang="ko-KR" altLang="ko-KR" sz="1400" b="1">
                <a:solidFill>
                  <a:srgbClr val="7030A0"/>
                </a:solidFill>
              </a:rPr>
              <a:t>맛 재료</a:t>
            </a:r>
            <a:r>
              <a:rPr lang="en-US" altLang="ko-KR" sz="1400" b="1">
                <a:solidFill>
                  <a:srgbClr val="7030A0"/>
                </a:solidFill>
              </a:rPr>
              <a:t>(FI), </a:t>
            </a:r>
            <a:r>
              <a:rPr lang="ko-KR" altLang="ko-KR" sz="1400" b="1">
                <a:solidFill>
                  <a:srgbClr val="7030A0"/>
                </a:solidFill>
              </a:rPr>
              <a:t>식사 </a:t>
            </a:r>
            <a:r>
              <a:rPr lang="ko-KR" altLang="en-US" sz="1400" b="1">
                <a:solidFill>
                  <a:srgbClr val="7030A0"/>
                </a:solidFill>
              </a:rPr>
              <a:t>끼니</a:t>
            </a:r>
            <a:r>
              <a:rPr lang="en-US" altLang="ko-KR" sz="1400" b="1">
                <a:solidFill>
                  <a:srgbClr val="7030A0"/>
                </a:solidFill>
              </a:rPr>
              <a:t>(M)</a:t>
            </a:r>
            <a:r>
              <a:rPr lang="ko-KR" altLang="ko-KR" sz="1400" b="1">
                <a:solidFill>
                  <a:srgbClr val="7030A0"/>
                </a:solidFill>
              </a:rPr>
              <a:t>을 나타내는 노드</a:t>
            </a:r>
            <a:r>
              <a:rPr lang="en-US" altLang="ko-KR" sz="1400" b="1">
                <a:solidFill>
                  <a:srgbClr val="7030A0"/>
                </a:solidFill>
              </a:rPr>
              <a:t>(node) </a:t>
            </a:r>
            <a:r>
              <a:rPr lang="ko-KR" altLang="ko-KR" sz="1400"/>
              <a:t>집합</a:t>
            </a:r>
            <a:r>
              <a:rPr lang="en-US" altLang="ko-KR" sz="1400"/>
              <a:t> V=(v1, ..., vn)</a:t>
            </a:r>
            <a:r>
              <a:rPr lang="ko-KR" altLang="ko-KR" sz="1400"/>
              <a:t>와</a:t>
            </a:r>
            <a:r>
              <a:rPr lang="en-US" altLang="ko-KR" sz="1400"/>
              <a:t>, </a:t>
            </a:r>
            <a:br>
              <a:rPr lang="en-US" altLang="ko-KR" sz="1400"/>
            </a:br>
            <a:r>
              <a:rPr lang="ko-KR" altLang="ko-KR" sz="1400"/>
              <a:t>이들 간의 관계를 나타내는 </a:t>
            </a:r>
            <a:r>
              <a:rPr lang="ko-KR" altLang="ko-KR" sz="1400" b="1">
                <a:solidFill>
                  <a:srgbClr val="7030A0"/>
                </a:solidFill>
              </a:rPr>
              <a:t>엣지</a:t>
            </a:r>
            <a:r>
              <a:rPr lang="en-US" altLang="ko-KR" sz="1400" b="1">
                <a:solidFill>
                  <a:srgbClr val="7030A0"/>
                </a:solidFill>
              </a:rPr>
              <a:t>(edge) </a:t>
            </a:r>
            <a:r>
              <a:rPr lang="ko-KR" altLang="ko-KR" sz="1400" b="1">
                <a:solidFill>
                  <a:srgbClr val="7030A0"/>
                </a:solidFill>
              </a:rPr>
              <a:t>집합</a:t>
            </a:r>
            <a:r>
              <a:rPr lang="en-US" altLang="ko-KR" sz="1400" b="1">
                <a:solidFill>
                  <a:srgbClr val="7030A0"/>
                </a:solidFill>
              </a:rPr>
              <a:t> E=(eats, pairs, contains, eaten_at)</a:t>
            </a:r>
            <a:r>
              <a:rPr lang="ko-KR" altLang="ko-KR" sz="1400"/>
              <a:t>로 구성</a:t>
            </a:r>
            <a:r>
              <a:rPr lang="ko-KR" altLang="en-US" sz="1400"/>
              <a:t>됨</a:t>
            </a:r>
            <a:r>
              <a:rPr lang="en-US" altLang="ko-KR" sz="1400"/>
              <a:t>.</a:t>
            </a:r>
          </a:p>
          <a:p>
            <a:pPr marL="285750" lvl="0" indent="-285750" latinLnBrk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lvl="0" indent="-285750" latinLnBrk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400"/>
              <a:t>이종 그래프를 구성하는 노드</a:t>
            </a:r>
            <a:r>
              <a:rPr lang="en-US" altLang="ko-KR" sz="1400"/>
              <a:t>(node)</a:t>
            </a:r>
            <a:r>
              <a:rPr lang="ko-KR" altLang="ko-KR" sz="1400"/>
              <a:t>와 엣지</a:t>
            </a:r>
            <a:r>
              <a:rPr lang="en-US" altLang="ko-KR" sz="1400"/>
              <a:t>(edge) </a:t>
            </a:r>
            <a:r>
              <a:rPr lang="ko-KR" altLang="ko-KR" sz="1400"/>
              <a:t>정보는 </a:t>
            </a:r>
            <a:br>
              <a:rPr lang="en-US" altLang="ko-KR" sz="1400"/>
            </a:br>
            <a:r>
              <a:rPr lang="ko-KR" altLang="ko-KR" sz="1400" b="1">
                <a:solidFill>
                  <a:srgbClr val="7030A0"/>
                </a:solidFill>
              </a:rPr>
              <a:t>사용자가 섭취한 음식 및 섭취한 시간에 대한 데이터베이스</a:t>
            </a:r>
            <a:r>
              <a:rPr lang="en-US" altLang="ko-KR" sz="1400" b="1">
                <a:solidFill>
                  <a:srgbClr val="7030A0"/>
                </a:solidFill>
              </a:rPr>
              <a:t>, </a:t>
            </a:r>
            <a:br>
              <a:rPr lang="en-US" altLang="ko-KR" sz="1400" b="1">
                <a:solidFill>
                  <a:srgbClr val="7030A0"/>
                </a:solidFill>
              </a:rPr>
            </a:br>
            <a:r>
              <a:rPr lang="ko-KR" altLang="ko-KR" sz="1400" b="1">
                <a:solidFill>
                  <a:srgbClr val="7030A0"/>
                </a:solidFill>
              </a:rPr>
              <a:t>섭취한 음식에 함유된 식재료 및 영양성분 데이터베이스</a:t>
            </a:r>
            <a:r>
              <a:rPr lang="en-US" altLang="ko-KR" sz="1400" b="1">
                <a:solidFill>
                  <a:srgbClr val="7030A0"/>
                </a:solidFill>
              </a:rPr>
              <a:t>, </a:t>
            </a:r>
            <a:br>
              <a:rPr lang="en-US" altLang="ko-KR" sz="1400" b="1">
                <a:solidFill>
                  <a:srgbClr val="7030A0"/>
                </a:solidFill>
              </a:rPr>
            </a:br>
            <a:r>
              <a:rPr lang="ko-KR" altLang="ko-KR" sz="1400" b="1">
                <a:solidFill>
                  <a:srgbClr val="7030A0"/>
                </a:solidFill>
              </a:rPr>
              <a:t>식재료의 분류체계에 관한 데이터베이스</a:t>
            </a:r>
            <a:r>
              <a:rPr lang="ko-KR" altLang="ko-KR" sz="1400"/>
              <a:t>로부터 추출</a:t>
            </a:r>
            <a:r>
              <a:rPr lang="ko-KR" altLang="en-US" sz="1400"/>
              <a:t>됨</a:t>
            </a:r>
            <a:r>
              <a:rPr lang="en-US" altLang="ko-KR" sz="1400"/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47B03C-3ADD-435D-9498-601FFBCEFC25}"/>
              </a:ext>
            </a:extLst>
          </p:cNvPr>
          <p:cNvSpPr/>
          <p:nvPr/>
        </p:nvSpPr>
        <p:spPr>
          <a:xfrm>
            <a:off x="537692" y="6527080"/>
            <a:ext cx="4381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도면 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6.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이종 그래프 구축 단계</a:t>
            </a:r>
          </a:p>
        </p:txBody>
      </p:sp>
    </p:spTree>
    <p:extLst>
      <p:ext uri="{BB962C8B-B14F-4D97-AF65-F5344CB8AC3E}">
        <p14:creationId xmlns:p14="http://schemas.microsoft.com/office/powerpoint/2010/main" val="5215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| (300)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식사 평가 모델 생성 모듈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(320)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맞춤 선호 및 조합 평가 모델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56F6C6-3FF8-491E-807D-CE66CB3349A9}"/>
              </a:ext>
            </a:extLst>
          </p:cNvPr>
          <p:cNvSpPr txBox="1"/>
          <p:nvPr/>
        </p:nvSpPr>
        <p:spPr>
          <a:xfrm>
            <a:off x="203625" y="710667"/>
            <a:ext cx="1178475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1">
                <a:solidFill>
                  <a:srgbClr val="7030A0"/>
                </a:solidFill>
              </a:rPr>
              <a:t>[321] </a:t>
            </a:r>
            <a:r>
              <a:rPr lang="ko-KR" altLang="ko-KR" sz="1600" b="1">
                <a:solidFill>
                  <a:srgbClr val="7030A0"/>
                </a:solidFill>
              </a:rPr>
              <a:t>이종 그래프 구축 단</a:t>
            </a:r>
            <a:r>
              <a:rPr lang="ko-KR" altLang="en-US" sz="1600" b="1">
                <a:solidFill>
                  <a:srgbClr val="7030A0"/>
                </a:solidFill>
              </a:rPr>
              <a:t>계 </a:t>
            </a:r>
            <a:r>
              <a:rPr lang="en-US" altLang="ko-KR" sz="1600"/>
              <a:t>_ </a:t>
            </a:r>
            <a:r>
              <a:rPr lang="ko-KR" altLang="en-US" sz="1600" b="1">
                <a:solidFill>
                  <a:srgbClr val="7030A0"/>
                </a:solidFill>
              </a:rPr>
              <a:t>노드</a:t>
            </a:r>
            <a:r>
              <a:rPr lang="en-US" altLang="ko-KR" sz="1600"/>
              <a:t>: </a:t>
            </a:r>
            <a:r>
              <a:rPr lang="ko-KR" altLang="en-US" sz="1600"/>
              <a:t>사용자</a:t>
            </a:r>
            <a:r>
              <a:rPr lang="en-US" altLang="ko-KR" sz="1600"/>
              <a:t>(U), </a:t>
            </a:r>
            <a:r>
              <a:rPr lang="ko-KR" altLang="en-US" sz="1600"/>
              <a:t>음식</a:t>
            </a:r>
            <a:r>
              <a:rPr lang="en-US" altLang="ko-KR" sz="1600"/>
              <a:t>(F), </a:t>
            </a:r>
            <a:r>
              <a:rPr lang="ko-KR" altLang="en-US" sz="1600"/>
              <a:t>주재료</a:t>
            </a:r>
            <a:r>
              <a:rPr lang="en-US" altLang="ko-KR" sz="1600"/>
              <a:t>(MI), </a:t>
            </a:r>
            <a:r>
              <a:rPr lang="ko-KR" altLang="en-US" sz="1600"/>
              <a:t>맛 재료</a:t>
            </a:r>
            <a:r>
              <a:rPr lang="en-US" altLang="ko-KR" sz="1600"/>
              <a:t>(FI), </a:t>
            </a:r>
            <a:r>
              <a:rPr lang="ko-KR" altLang="en-US" sz="1600"/>
              <a:t>식사 끼니</a:t>
            </a:r>
            <a:r>
              <a:rPr lang="en-US" altLang="ko-KR" sz="1600"/>
              <a:t>(M)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AA0FBA-4C6B-4A82-9657-7237077EF209}"/>
              </a:ext>
            </a:extLst>
          </p:cNvPr>
          <p:cNvSpPr txBox="1"/>
          <p:nvPr/>
        </p:nvSpPr>
        <p:spPr>
          <a:xfrm>
            <a:off x="5423824" y="1299481"/>
            <a:ext cx="6617120" cy="5250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각 노드는 </a:t>
            </a:r>
            <a:r>
              <a:rPr lang="ko-KR" altLang="ko-KR" sz="1400" b="1" dirty="0">
                <a:solidFill>
                  <a:srgbClr val="7030A0"/>
                </a:solidFill>
              </a:rPr>
              <a:t>초기 변수</a:t>
            </a:r>
            <a:r>
              <a:rPr lang="ko-KR" altLang="ko-KR" sz="1400" dirty="0"/>
              <a:t>로부터 얻어진 </a:t>
            </a:r>
            <a:r>
              <a:rPr lang="ko-KR" altLang="ko-KR" sz="1400" b="1" dirty="0">
                <a:solidFill>
                  <a:srgbClr val="7030A0"/>
                </a:solidFill>
              </a:rPr>
              <a:t>고유의 특성 벡터</a:t>
            </a:r>
            <a:r>
              <a:rPr lang="ko-KR" altLang="ko-KR" sz="1400" dirty="0"/>
              <a:t>를 가지고 있</a:t>
            </a:r>
            <a:r>
              <a:rPr lang="ko-KR" altLang="en-US" sz="1400" dirty="0"/>
              <a:t>음</a:t>
            </a:r>
            <a:r>
              <a:rPr lang="en-US" altLang="ko-KR" sz="1400" dirty="0"/>
              <a:t>.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노드의 </a:t>
            </a:r>
            <a:r>
              <a:rPr lang="ko-KR" altLang="en-US" sz="1400" b="1" dirty="0">
                <a:solidFill>
                  <a:srgbClr val="7030A0"/>
                </a:solidFill>
              </a:rPr>
              <a:t>초기 변수</a:t>
            </a:r>
            <a:r>
              <a:rPr lang="ko-KR" altLang="en-US" sz="1400" dirty="0"/>
              <a:t>는 아래와 같음</a:t>
            </a:r>
            <a:r>
              <a:rPr lang="en-US" altLang="ko-KR" sz="1400" dirty="0"/>
              <a:t>.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solidFill>
                  <a:srgbClr val="7030A0"/>
                </a:solidFill>
              </a:rPr>
              <a:t>사용자 노드 </a:t>
            </a:r>
            <a:r>
              <a:rPr lang="en-US" altLang="ko-KR" sz="1400" b="1" dirty="0">
                <a:solidFill>
                  <a:srgbClr val="7030A0"/>
                </a:solidFill>
              </a:rPr>
              <a:t>(U)</a:t>
            </a:r>
            <a:endParaRPr lang="en-US" altLang="ko-KR" sz="14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연속형 변수</a:t>
            </a:r>
            <a:r>
              <a:rPr lang="en-US" altLang="ko-KR" sz="1100" dirty="0"/>
              <a:t>:</a:t>
            </a:r>
            <a:r>
              <a:rPr lang="ko-KR" altLang="ko-KR" sz="1100" dirty="0"/>
              <a:t> 나이</a:t>
            </a:r>
            <a:r>
              <a:rPr lang="en-US" altLang="ko-KR" sz="1100" dirty="0"/>
              <a:t> (</a:t>
            </a:r>
            <a:r>
              <a:rPr lang="ko-KR" altLang="ko-KR" sz="1100" dirty="0"/>
              <a:t>세</a:t>
            </a:r>
            <a:r>
              <a:rPr lang="en-US" altLang="ko-KR" sz="1100" dirty="0"/>
              <a:t>), </a:t>
            </a:r>
            <a:r>
              <a:rPr lang="ko-KR" altLang="ko-KR" sz="1100" dirty="0"/>
              <a:t>신장</a:t>
            </a:r>
            <a:r>
              <a:rPr lang="en-US" altLang="ko-KR" sz="1100" dirty="0"/>
              <a:t> (cm), </a:t>
            </a:r>
            <a:r>
              <a:rPr lang="ko-KR" altLang="ko-KR" sz="1100" dirty="0"/>
              <a:t>체중</a:t>
            </a:r>
            <a:r>
              <a:rPr lang="en-US" altLang="ko-KR" sz="1100" dirty="0"/>
              <a:t> (kg)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범주형 변수</a:t>
            </a:r>
            <a:r>
              <a:rPr lang="en-US" altLang="ko-KR" sz="1100" dirty="0"/>
              <a:t>:</a:t>
            </a:r>
            <a:r>
              <a:rPr lang="ko-KR" altLang="ko-KR" sz="1100" dirty="0"/>
              <a:t> 성별</a:t>
            </a:r>
            <a:r>
              <a:rPr lang="en-US" altLang="ko-KR" sz="1100" dirty="0"/>
              <a:t> (</a:t>
            </a:r>
            <a:r>
              <a:rPr lang="ko-KR" altLang="ko-KR" sz="1100" dirty="0"/>
              <a:t>남</a:t>
            </a:r>
            <a:r>
              <a:rPr lang="en-US" altLang="ko-KR" sz="1100" dirty="0"/>
              <a:t>, </a:t>
            </a:r>
            <a:r>
              <a:rPr lang="ko-KR" altLang="ko-KR" sz="1100" dirty="0"/>
              <a:t>여</a:t>
            </a:r>
            <a:r>
              <a:rPr lang="en-US" altLang="ko-KR" sz="1100" dirty="0"/>
              <a:t>), </a:t>
            </a:r>
            <a:r>
              <a:rPr lang="ko-KR" altLang="ko-KR" sz="1100" dirty="0"/>
              <a:t>활동정도</a:t>
            </a:r>
            <a:r>
              <a:rPr lang="en-US" altLang="ko-KR" sz="1100" dirty="0"/>
              <a:t> (</a:t>
            </a:r>
            <a:r>
              <a:rPr lang="ko-KR" altLang="ko-KR" sz="1100" dirty="0"/>
              <a:t>비활동적</a:t>
            </a:r>
            <a:r>
              <a:rPr lang="en-US" altLang="ko-KR" sz="1100" dirty="0"/>
              <a:t>, </a:t>
            </a:r>
            <a:r>
              <a:rPr lang="ko-KR" altLang="ko-KR" sz="1100" dirty="0" err="1"/>
              <a:t>저활동적</a:t>
            </a:r>
            <a:r>
              <a:rPr lang="en-US" altLang="ko-KR" sz="1100" dirty="0"/>
              <a:t>, </a:t>
            </a:r>
            <a:r>
              <a:rPr lang="ko-KR" altLang="ko-KR" sz="1100" dirty="0"/>
              <a:t>활동적</a:t>
            </a:r>
            <a:r>
              <a:rPr lang="en-US" altLang="ko-KR" sz="1100" dirty="0"/>
              <a:t>, </a:t>
            </a:r>
            <a:r>
              <a:rPr lang="ko-KR" altLang="ko-KR" sz="1100" dirty="0"/>
              <a:t>매우 활동적</a:t>
            </a:r>
            <a:r>
              <a:rPr lang="en-US" altLang="ko-KR" sz="1100" dirty="0"/>
              <a:t>)</a:t>
            </a:r>
            <a:endParaRPr lang="ko-KR" altLang="ko-KR" sz="11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solidFill>
                  <a:srgbClr val="7030A0"/>
                </a:solidFill>
              </a:rPr>
              <a:t>음식 노드</a:t>
            </a:r>
            <a:r>
              <a:rPr lang="en-US" altLang="ko-KR" sz="1400" b="1" dirty="0">
                <a:solidFill>
                  <a:srgbClr val="7030A0"/>
                </a:solidFill>
              </a:rPr>
              <a:t> (F)</a:t>
            </a:r>
            <a:endParaRPr lang="en-US" altLang="ko-KR" sz="14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연속형 변수</a:t>
            </a:r>
            <a:r>
              <a:rPr lang="en-US" altLang="ko-KR" sz="1100" dirty="0"/>
              <a:t>:</a:t>
            </a:r>
            <a:r>
              <a:rPr lang="ko-KR" altLang="ko-KR" sz="1100" dirty="0"/>
              <a:t> </a:t>
            </a:r>
            <a:r>
              <a:rPr lang="ko-KR" altLang="en-US" sz="1100" dirty="0"/>
              <a:t>열량 </a:t>
            </a:r>
            <a:r>
              <a:rPr lang="en-US" altLang="ko-KR" sz="1100" dirty="0"/>
              <a:t>(kcal), </a:t>
            </a:r>
            <a:r>
              <a:rPr lang="ko-KR" altLang="ko-KR" sz="1100" dirty="0"/>
              <a:t>탄수화물</a:t>
            </a:r>
            <a:r>
              <a:rPr lang="en-US" altLang="ko-KR" sz="1100" dirty="0"/>
              <a:t> (g), </a:t>
            </a:r>
            <a:r>
              <a:rPr lang="ko-KR" altLang="ko-KR" sz="1100" dirty="0"/>
              <a:t>단백질</a:t>
            </a:r>
            <a:r>
              <a:rPr lang="en-US" altLang="ko-KR" sz="1100" dirty="0"/>
              <a:t> (g), </a:t>
            </a:r>
            <a:r>
              <a:rPr lang="ko-KR" altLang="ko-KR" sz="1100" dirty="0"/>
              <a:t>지방</a:t>
            </a:r>
            <a:r>
              <a:rPr lang="en-US" altLang="ko-KR" sz="1100" dirty="0"/>
              <a:t> (g), </a:t>
            </a:r>
            <a:r>
              <a:rPr lang="ko-KR" altLang="ko-KR" sz="1100" dirty="0"/>
              <a:t>포화지방</a:t>
            </a:r>
            <a:r>
              <a:rPr lang="en-US" altLang="ko-KR" sz="1100" dirty="0"/>
              <a:t> (g), </a:t>
            </a:r>
            <a:r>
              <a:rPr lang="ko-KR" altLang="ko-KR" sz="1100" dirty="0"/>
              <a:t>콜레스테롤</a:t>
            </a:r>
            <a:r>
              <a:rPr lang="en-US" altLang="ko-KR" sz="1100" dirty="0"/>
              <a:t> (mg), </a:t>
            </a:r>
            <a:r>
              <a:rPr lang="ko-KR" altLang="ko-KR" sz="1100" dirty="0" err="1"/>
              <a:t>식이섬유</a:t>
            </a:r>
            <a:r>
              <a:rPr lang="en-US" altLang="ko-KR" sz="1100" dirty="0"/>
              <a:t> (g), </a:t>
            </a:r>
            <a:r>
              <a:rPr lang="ko-KR" altLang="ko-KR" sz="1100" dirty="0"/>
              <a:t>당류</a:t>
            </a:r>
            <a:r>
              <a:rPr lang="en-US" altLang="ko-KR" sz="1100" dirty="0"/>
              <a:t> (g), </a:t>
            </a:r>
            <a:r>
              <a:rPr lang="ko-KR" altLang="ko-KR" sz="1100" dirty="0"/>
              <a:t>나트륨</a:t>
            </a:r>
            <a:r>
              <a:rPr lang="en-US" altLang="ko-KR" sz="1100" dirty="0"/>
              <a:t> (mg) 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solidFill>
                  <a:srgbClr val="7030A0"/>
                </a:solidFill>
              </a:rPr>
              <a:t>주재료 노드</a:t>
            </a:r>
            <a:r>
              <a:rPr lang="en-US" altLang="ko-KR" sz="1400" b="1" dirty="0">
                <a:solidFill>
                  <a:srgbClr val="7030A0"/>
                </a:solidFill>
              </a:rPr>
              <a:t>(MI)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범주형 변수</a:t>
            </a:r>
            <a:r>
              <a:rPr lang="en-US" altLang="ko-KR" sz="1100" dirty="0"/>
              <a:t>: </a:t>
            </a:r>
            <a:r>
              <a:rPr lang="ko-KR" altLang="ko-KR" sz="1100" dirty="0"/>
              <a:t>분류체계</a:t>
            </a:r>
            <a:r>
              <a:rPr lang="en-US" altLang="ko-KR" sz="1100" dirty="0"/>
              <a:t> 60</a:t>
            </a:r>
            <a:r>
              <a:rPr lang="ko-KR" altLang="ko-KR" sz="1100" dirty="0"/>
              <a:t>가지 중 한가지에 해당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solidFill>
                  <a:srgbClr val="7030A0"/>
                </a:solidFill>
              </a:rPr>
              <a:t>맛 재료 노드</a:t>
            </a:r>
            <a:r>
              <a:rPr lang="en-US" altLang="ko-KR" sz="1400" b="1" dirty="0">
                <a:solidFill>
                  <a:srgbClr val="7030A0"/>
                </a:solidFill>
              </a:rPr>
              <a:t>(FI)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범주형 변수</a:t>
            </a:r>
            <a:r>
              <a:rPr lang="en-US" altLang="ko-KR" sz="1100" dirty="0"/>
              <a:t>: </a:t>
            </a:r>
            <a:r>
              <a:rPr lang="ko-KR" altLang="ko-KR" sz="1100" dirty="0"/>
              <a:t>분류체계</a:t>
            </a:r>
            <a:r>
              <a:rPr lang="en-US" altLang="ko-KR" sz="1100" dirty="0"/>
              <a:t> 2</a:t>
            </a:r>
            <a:r>
              <a:rPr lang="ko-KR" altLang="ko-KR" sz="1100" dirty="0"/>
              <a:t>가지 중 한가지에 해당</a:t>
            </a:r>
            <a:endParaRPr lang="en-US" altLang="ko-KR" sz="11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>
                <a:solidFill>
                  <a:srgbClr val="7030A0"/>
                </a:solidFill>
              </a:rPr>
              <a:t>식사 </a:t>
            </a:r>
            <a:r>
              <a:rPr lang="ko-KR" altLang="en-US" sz="1400" b="1">
                <a:solidFill>
                  <a:srgbClr val="7030A0"/>
                </a:solidFill>
              </a:rPr>
              <a:t>끼니</a:t>
            </a:r>
            <a:r>
              <a:rPr lang="en-US" altLang="ko-KR" sz="1400" b="1">
                <a:solidFill>
                  <a:srgbClr val="7030A0"/>
                </a:solidFill>
              </a:rPr>
              <a:t>(</a:t>
            </a:r>
            <a:r>
              <a:rPr lang="en-US" altLang="ko-KR" sz="1400" b="1" dirty="0">
                <a:solidFill>
                  <a:srgbClr val="7030A0"/>
                </a:solidFill>
              </a:rPr>
              <a:t>M)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100" dirty="0"/>
              <a:t>범주형 변수</a:t>
            </a:r>
            <a:r>
              <a:rPr lang="en-US" altLang="ko-KR" sz="1100" dirty="0"/>
              <a:t>: </a:t>
            </a:r>
            <a:r>
              <a:rPr lang="ko-KR" altLang="ko-KR" sz="1100" dirty="0"/>
              <a:t>분류체계</a:t>
            </a:r>
            <a:r>
              <a:rPr lang="en-US" altLang="ko-KR" sz="1100" dirty="0"/>
              <a:t> 4</a:t>
            </a:r>
            <a:r>
              <a:rPr lang="ko-KR" altLang="ko-KR" sz="1100" dirty="0"/>
              <a:t>가지 중 한가지에 해당</a:t>
            </a:r>
            <a:endParaRPr lang="en-US" altLang="ko-KR" sz="110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초기 변수로부터 </a:t>
            </a:r>
            <a:r>
              <a:rPr lang="ko-KR" altLang="ko-KR" sz="1400" b="1" dirty="0">
                <a:solidFill>
                  <a:srgbClr val="7030A0"/>
                </a:solidFill>
              </a:rPr>
              <a:t>특성 벡터로 변환</a:t>
            </a:r>
            <a:endParaRPr lang="ko-KR" altLang="ko-KR" sz="14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rgbClr val="7030A0"/>
                </a:solidFill>
              </a:rPr>
              <a:t>연속형 변수</a:t>
            </a:r>
            <a:r>
              <a:rPr lang="en-US" altLang="ko-KR" sz="1200" dirty="0"/>
              <a:t>: </a:t>
            </a:r>
            <a:r>
              <a:rPr lang="ko-KR" altLang="ko-KR" sz="1200" dirty="0"/>
              <a:t>각 변수를 </a:t>
            </a:r>
            <a:r>
              <a:rPr lang="ko-KR" altLang="ko-KR" sz="1200" dirty="0">
                <a:solidFill>
                  <a:srgbClr val="7030A0"/>
                </a:solidFill>
              </a:rPr>
              <a:t>로그 변환</a:t>
            </a:r>
            <a:r>
              <a:rPr lang="ko-KR" altLang="ko-KR" sz="1200" dirty="0"/>
              <a:t>하여 데이터의 분포를 균일하게 만든 후</a:t>
            </a:r>
            <a:r>
              <a:rPr lang="en-US" altLang="ko-KR" sz="1200" dirty="0"/>
              <a:t> </a:t>
            </a:r>
            <a:r>
              <a:rPr lang="en-US" altLang="ko-KR" sz="1200" dirty="0" err="1">
                <a:solidFill>
                  <a:srgbClr val="7030A0"/>
                </a:solidFill>
              </a:rPr>
              <a:t>MinMaxScaler</a:t>
            </a:r>
            <a:r>
              <a:rPr lang="ko-KR" altLang="ko-KR" sz="1200" dirty="0"/>
              <a:t>로 모든 특성을 동일한 스케일</a:t>
            </a:r>
            <a:r>
              <a:rPr lang="en-US" altLang="ko-KR" sz="1200" dirty="0"/>
              <a:t> (0~100) </a:t>
            </a:r>
            <a:r>
              <a:rPr lang="ko-KR" altLang="ko-KR" sz="1200" dirty="0"/>
              <a:t>사이의 정수 값으로 변환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rgbClr val="7030A0"/>
                </a:solidFill>
              </a:rPr>
              <a:t>범주형 변수</a:t>
            </a:r>
            <a:r>
              <a:rPr lang="en-US" altLang="ko-KR" sz="1200" dirty="0"/>
              <a:t>: </a:t>
            </a:r>
            <a:r>
              <a:rPr lang="en-US" altLang="ko-KR" sz="1200" dirty="0">
                <a:solidFill>
                  <a:srgbClr val="7030A0"/>
                </a:solidFill>
              </a:rPr>
              <a:t>one-hot </a:t>
            </a:r>
            <a:r>
              <a:rPr lang="ko-KR" altLang="ko-KR" sz="1200" dirty="0">
                <a:solidFill>
                  <a:srgbClr val="7030A0"/>
                </a:solidFill>
              </a:rPr>
              <a:t>인코딩</a:t>
            </a:r>
            <a:r>
              <a:rPr lang="ko-KR" altLang="ko-KR" sz="1200" dirty="0"/>
              <a:t> 방법을 거쳐 특성 벡터로 사용</a:t>
            </a:r>
            <a:endParaRPr lang="ko-KR" altLang="en-US" sz="12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08E3889-FEF1-47F5-8503-43D2CBAC93E7}"/>
              </a:ext>
            </a:extLst>
          </p:cNvPr>
          <p:cNvGrpSpPr/>
          <p:nvPr/>
        </p:nvGrpSpPr>
        <p:grpSpPr>
          <a:xfrm>
            <a:off x="561909" y="1335549"/>
            <a:ext cx="4707676" cy="5056460"/>
            <a:chOff x="3342815" y="904904"/>
            <a:chExt cx="5094037" cy="567790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C0C9CECE-D34D-43FD-A275-AB80C6FB5D5F}"/>
                </a:ext>
              </a:extLst>
            </p:cNvPr>
            <p:cNvGrpSpPr/>
            <p:nvPr/>
          </p:nvGrpSpPr>
          <p:grpSpPr>
            <a:xfrm>
              <a:off x="3342815" y="904904"/>
              <a:ext cx="4947442" cy="3171397"/>
              <a:chOff x="2922748" y="2087154"/>
              <a:chExt cx="4947442" cy="3171397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378DA95A-7B4F-4FB5-863F-3BC41C5D6BA4}"/>
                  </a:ext>
                </a:extLst>
              </p:cNvPr>
              <p:cNvSpPr/>
              <p:nvPr/>
            </p:nvSpPr>
            <p:spPr>
              <a:xfrm>
                <a:off x="2922748" y="2995255"/>
                <a:ext cx="900000" cy="900000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U</a:t>
                </a: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E3114B91-D97D-41BE-BF90-A8EDC8D19A11}"/>
                  </a:ext>
                </a:extLst>
              </p:cNvPr>
              <p:cNvSpPr/>
              <p:nvPr/>
            </p:nvSpPr>
            <p:spPr>
              <a:xfrm>
                <a:off x="4782999" y="2997853"/>
                <a:ext cx="900000" cy="90000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</a:t>
                </a:r>
              </a:p>
            </p:txBody>
          </p:sp>
          <p:sp>
            <p:nvSpPr>
              <p:cNvPr id="79" name="다이아몬드 78">
                <a:extLst>
                  <a:ext uri="{FF2B5EF4-FFF2-40B4-BE49-F238E27FC236}">
                    <a16:creationId xmlns:a16="http://schemas.microsoft.com/office/drawing/2014/main" id="{FAFCB212-24B6-4531-B18D-101CF369AB83}"/>
                  </a:ext>
                </a:extLst>
              </p:cNvPr>
              <p:cNvSpPr/>
              <p:nvPr/>
            </p:nvSpPr>
            <p:spPr>
              <a:xfrm>
                <a:off x="4782999" y="4358551"/>
                <a:ext cx="900000" cy="900000"/>
              </a:xfrm>
              <a:prstGeom prst="diamond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</a:t>
                </a:r>
              </a:p>
            </p:txBody>
          </p: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44DF145E-06CD-4D53-9AAA-E6EBB6D808A5}"/>
                  </a:ext>
                </a:extLst>
              </p:cNvPr>
              <p:cNvCxnSpPr>
                <a:cxnSpLocks/>
                <a:stCxn id="77" idx="3"/>
                <a:endCxn id="78" idx="2"/>
              </p:cNvCxnSpPr>
              <p:nvPr/>
            </p:nvCxnSpPr>
            <p:spPr>
              <a:xfrm>
                <a:off x="3822748" y="3445255"/>
                <a:ext cx="960251" cy="25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6E8E6FBF-610C-4075-88EC-1C00B19805B4}"/>
                  </a:ext>
                </a:extLst>
              </p:cNvPr>
              <p:cNvSpPr/>
              <p:nvPr/>
            </p:nvSpPr>
            <p:spPr>
              <a:xfrm>
                <a:off x="4065939" y="3087192"/>
                <a:ext cx="53412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직선 화살표 연결선 82">
                <a:extLst>
                  <a:ext uri="{FF2B5EF4-FFF2-40B4-BE49-F238E27FC236}">
                    <a16:creationId xmlns:a16="http://schemas.microsoft.com/office/drawing/2014/main" id="{97D028D5-FF47-4321-B15F-CE831AE367A5}"/>
                  </a:ext>
                </a:extLst>
              </p:cNvPr>
              <p:cNvCxnSpPr>
                <a:cxnSpLocks/>
                <a:stCxn id="78" idx="6"/>
              </p:cNvCxnSpPr>
              <p:nvPr/>
            </p:nvCxnSpPr>
            <p:spPr>
              <a:xfrm flipV="1">
                <a:off x="5682999" y="2644369"/>
                <a:ext cx="1143191" cy="803484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직선 화살표 연결선 83">
                <a:extLst>
                  <a:ext uri="{FF2B5EF4-FFF2-40B4-BE49-F238E27FC236}">
                    <a16:creationId xmlns:a16="http://schemas.microsoft.com/office/drawing/2014/main" id="{C10E185B-0917-4828-B677-DE95E1724578}"/>
                  </a:ext>
                </a:extLst>
              </p:cNvPr>
              <p:cNvCxnSpPr>
                <a:cxnSpLocks/>
                <a:stCxn id="78" idx="4"/>
                <a:endCxn id="79" idx="0"/>
              </p:cNvCxnSpPr>
              <p:nvPr/>
            </p:nvCxnSpPr>
            <p:spPr>
              <a:xfrm>
                <a:off x="5232999" y="3897853"/>
                <a:ext cx="0" cy="460698"/>
              </a:xfrm>
              <a:prstGeom prst="straightConnector1">
                <a:avLst/>
              </a:prstGeom>
              <a:ln w="28575">
                <a:prstDash val="sys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BA7AB7FA-E8E8-455D-8CCD-6F86D5CC44FA}"/>
                  </a:ext>
                </a:extLst>
              </p:cNvPr>
              <p:cNvSpPr/>
              <p:nvPr/>
            </p:nvSpPr>
            <p:spPr>
              <a:xfrm>
                <a:off x="4357578" y="3940984"/>
                <a:ext cx="90204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eaten_at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6" name="원호 85">
                <a:extLst>
                  <a:ext uri="{FF2B5EF4-FFF2-40B4-BE49-F238E27FC236}">
                    <a16:creationId xmlns:a16="http://schemas.microsoft.com/office/drawing/2014/main" id="{4B9E0257-57F1-41B6-B29B-EA0D1FC50C57}"/>
                  </a:ext>
                </a:extLst>
              </p:cNvPr>
              <p:cNvSpPr/>
              <p:nvPr/>
            </p:nvSpPr>
            <p:spPr>
              <a:xfrm>
                <a:off x="4816072" y="2156958"/>
                <a:ext cx="833854" cy="892944"/>
              </a:xfrm>
              <a:prstGeom prst="arc">
                <a:avLst>
                  <a:gd name="adj1" fmla="val 7104086"/>
                  <a:gd name="adj2" fmla="val 3665856"/>
                </a:avLst>
              </a:prstGeom>
              <a:ln w="28575">
                <a:prstDash val="dash"/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541004-244B-4597-97AB-590D815B7E05}"/>
                  </a:ext>
                </a:extLst>
              </p:cNvPr>
              <p:cNvSpPr/>
              <p:nvPr/>
            </p:nvSpPr>
            <p:spPr>
              <a:xfrm>
                <a:off x="4934424" y="2423517"/>
                <a:ext cx="5971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pairs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8" name="오각형 87">
                <a:extLst>
                  <a:ext uri="{FF2B5EF4-FFF2-40B4-BE49-F238E27FC236}">
                    <a16:creationId xmlns:a16="http://schemas.microsoft.com/office/drawing/2014/main" id="{AF531A24-3326-4CAA-874C-5B3742909554}"/>
                  </a:ext>
                </a:extLst>
              </p:cNvPr>
              <p:cNvSpPr/>
              <p:nvPr/>
            </p:nvSpPr>
            <p:spPr>
              <a:xfrm>
                <a:off x="6898190" y="2087154"/>
                <a:ext cx="900000" cy="900000"/>
              </a:xfrm>
              <a:prstGeom prst="pentagon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14400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MI</a:t>
                </a:r>
              </a:p>
            </p:txBody>
          </p:sp>
          <p:sp>
            <p:nvSpPr>
              <p:cNvPr id="89" name="육각형 88">
                <a:extLst>
                  <a:ext uri="{FF2B5EF4-FFF2-40B4-BE49-F238E27FC236}">
                    <a16:creationId xmlns:a16="http://schemas.microsoft.com/office/drawing/2014/main" id="{80E74365-F85F-42C3-97DA-65FF254804F8}"/>
                  </a:ext>
                </a:extLst>
              </p:cNvPr>
              <p:cNvSpPr/>
              <p:nvPr/>
            </p:nvSpPr>
            <p:spPr>
              <a:xfrm>
                <a:off x="6826190" y="3908551"/>
                <a:ext cx="1044000" cy="900000"/>
              </a:xfrm>
              <a:prstGeom prst="hexagon">
                <a:avLst>
                  <a:gd name="adj" fmla="val 26499"/>
                  <a:gd name="vf" fmla="val 115470"/>
                </a:avLst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FI</a:t>
                </a:r>
              </a:p>
            </p:txBody>
          </p:sp>
          <p:cxnSp>
            <p:nvCxnSpPr>
              <p:cNvPr id="90" name="직선 화살표 연결선 89">
                <a:extLst>
                  <a:ext uri="{FF2B5EF4-FFF2-40B4-BE49-F238E27FC236}">
                    <a16:creationId xmlns:a16="http://schemas.microsoft.com/office/drawing/2014/main" id="{B5F17157-0DAC-4EB0-B082-BAA3F5FF2493}"/>
                  </a:ext>
                </a:extLst>
              </p:cNvPr>
              <p:cNvCxnSpPr>
                <a:cxnSpLocks/>
                <a:stCxn id="78" idx="6"/>
                <a:endCxn id="89" idx="3"/>
              </p:cNvCxnSpPr>
              <p:nvPr/>
            </p:nvCxnSpPr>
            <p:spPr>
              <a:xfrm>
                <a:off x="5682999" y="3447853"/>
                <a:ext cx="1143191" cy="910698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70E5628A-77CC-4F7F-AE9F-AB861B7AB070}"/>
                  </a:ext>
                </a:extLst>
              </p:cNvPr>
              <p:cNvSpPr/>
              <p:nvPr/>
            </p:nvSpPr>
            <p:spPr>
              <a:xfrm>
                <a:off x="5958054" y="3291366"/>
                <a:ext cx="90120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contains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F77CD7C-2279-4962-ABD7-8B32C8AEB14F}"/>
                </a:ext>
              </a:extLst>
            </p:cNvPr>
            <p:cNvSpPr/>
            <p:nvPr/>
          </p:nvSpPr>
          <p:spPr>
            <a:xfrm>
              <a:off x="3698079" y="4284020"/>
              <a:ext cx="360000" cy="36000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B440348-7364-4F7B-A174-FACEB95404C0}"/>
                </a:ext>
              </a:extLst>
            </p:cNvPr>
            <p:cNvSpPr/>
            <p:nvPr/>
          </p:nvSpPr>
          <p:spPr>
            <a:xfrm>
              <a:off x="4263330" y="4317606"/>
              <a:ext cx="1800000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U: user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33BED8FD-AB6C-41AD-901D-070B75C0E37D}"/>
                </a:ext>
              </a:extLst>
            </p:cNvPr>
            <p:cNvSpPr/>
            <p:nvPr/>
          </p:nvSpPr>
          <p:spPr>
            <a:xfrm>
              <a:off x="3698079" y="4768717"/>
              <a:ext cx="360000" cy="3600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타원 109">
              <a:extLst>
                <a:ext uri="{FF2B5EF4-FFF2-40B4-BE49-F238E27FC236}">
                  <a16:creationId xmlns:a16="http://schemas.microsoft.com/office/drawing/2014/main" id="{27C53ADA-B6FB-438E-BDE4-BD208D09D4FE}"/>
                </a:ext>
              </a:extLst>
            </p:cNvPr>
            <p:cNvSpPr/>
            <p:nvPr/>
          </p:nvSpPr>
          <p:spPr>
            <a:xfrm>
              <a:off x="4263330" y="4772114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F: food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다이아몬드 49">
              <a:extLst>
                <a:ext uri="{FF2B5EF4-FFF2-40B4-BE49-F238E27FC236}">
                  <a16:creationId xmlns:a16="http://schemas.microsoft.com/office/drawing/2014/main" id="{0130BD45-A874-46AD-8FB1-FC875882B0B1}"/>
                </a:ext>
              </a:extLst>
            </p:cNvPr>
            <p:cNvSpPr/>
            <p:nvPr/>
          </p:nvSpPr>
          <p:spPr>
            <a:xfrm>
              <a:off x="3698079" y="6222806"/>
              <a:ext cx="360000" cy="360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다이아몬드 110">
              <a:extLst>
                <a:ext uri="{FF2B5EF4-FFF2-40B4-BE49-F238E27FC236}">
                  <a16:creationId xmlns:a16="http://schemas.microsoft.com/office/drawing/2014/main" id="{F6897116-F56B-4FFF-A041-4C90BEEDBF22}"/>
                </a:ext>
              </a:extLst>
            </p:cNvPr>
            <p:cNvSpPr/>
            <p:nvPr/>
          </p:nvSpPr>
          <p:spPr>
            <a:xfrm>
              <a:off x="4263330" y="6258488"/>
              <a:ext cx="1800000" cy="2886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M: meal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육각형 57">
              <a:extLst>
                <a:ext uri="{FF2B5EF4-FFF2-40B4-BE49-F238E27FC236}">
                  <a16:creationId xmlns:a16="http://schemas.microsoft.com/office/drawing/2014/main" id="{09400411-6048-4C41-8F6F-A52DD8F16174}"/>
                </a:ext>
              </a:extLst>
            </p:cNvPr>
            <p:cNvSpPr/>
            <p:nvPr/>
          </p:nvSpPr>
          <p:spPr>
            <a:xfrm>
              <a:off x="3698079" y="5738110"/>
              <a:ext cx="360000" cy="360000"/>
            </a:xfrm>
            <a:prstGeom prst="hexagon">
              <a:avLst>
                <a:gd name="adj" fmla="val 23080"/>
                <a:gd name="vf" fmla="val 115470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육각형 112">
              <a:extLst>
                <a:ext uri="{FF2B5EF4-FFF2-40B4-BE49-F238E27FC236}">
                  <a16:creationId xmlns:a16="http://schemas.microsoft.com/office/drawing/2014/main" id="{BA58394D-CB4F-411A-8BC5-C8113C1BF7E0}"/>
                </a:ext>
              </a:extLst>
            </p:cNvPr>
            <p:cNvSpPr/>
            <p:nvPr/>
          </p:nvSpPr>
          <p:spPr>
            <a:xfrm>
              <a:off x="4263330" y="57415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FI: flavor_ingredient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왼쪽 대괄호 60">
              <a:extLst>
                <a:ext uri="{FF2B5EF4-FFF2-40B4-BE49-F238E27FC236}">
                  <a16:creationId xmlns:a16="http://schemas.microsoft.com/office/drawing/2014/main" id="{BE85D6AC-EE63-465F-A438-1B742DD829D2}"/>
                </a:ext>
              </a:extLst>
            </p:cNvPr>
            <p:cNvSpPr/>
            <p:nvPr/>
          </p:nvSpPr>
          <p:spPr>
            <a:xfrm>
              <a:off x="3342815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오각형 61">
              <a:extLst>
                <a:ext uri="{FF2B5EF4-FFF2-40B4-BE49-F238E27FC236}">
                  <a16:creationId xmlns:a16="http://schemas.microsoft.com/office/drawing/2014/main" id="{829A20BE-817E-443A-B171-8070D1365FED}"/>
                </a:ext>
              </a:extLst>
            </p:cNvPr>
            <p:cNvSpPr/>
            <p:nvPr/>
          </p:nvSpPr>
          <p:spPr>
            <a:xfrm>
              <a:off x="3698079" y="5256810"/>
              <a:ext cx="360000" cy="360000"/>
            </a:xfrm>
            <a:prstGeom prst="pentagon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오각형 111">
              <a:extLst>
                <a:ext uri="{FF2B5EF4-FFF2-40B4-BE49-F238E27FC236}">
                  <a16:creationId xmlns:a16="http://schemas.microsoft.com/office/drawing/2014/main" id="{47C75A3E-CAB2-4EF6-8E4B-3A24E2DC4B21}"/>
                </a:ext>
              </a:extLst>
            </p:cNvPr>
            <p:cNvSpPr/>
            <p:nvPr/>
          </p:nvSpPr>
          <p:spPr>
            <a:xfrm>
              <a:off x="4263330" y="52602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MI: main_ingredient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258709F-067B-439A-98DD-E684DD3B1D6D}"/>
                </a:ext>
              </a:extLst>
            </p:cNvPr>
            <p:cNvSpPr/>
            <p:nvPr/>
          </p:nvSpPr>
          <p:spPr>
            <a:xfrm>
              <a:off x="7681851" y="4317606"/>
              <a:ext cx="755001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타원 109">
              <a:extLst>
                <a:ext uri="{FF2B5EF4-FFF2-40B4-BE49-F238E27FC236}">
                  <a16:creationId xmlns:a16="http://schemas.microsoft.com/office/drawing/2014/main" id="{C7989706-A908-417F-979F-B7F17A6C894C}"/>
                </a:ext>
              </a:extLst>
            </p:cNvPr>
            <p:cNvSpPr/>
            <p:nvPr/>
          </p:nvSpPr>
          <p:spPr>
            <a:xfrm>
              <a:off x="7681851" y="49229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pairs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육각형 112">
              <a:extLst>
                <a:ext uri="{FF2B5EF4-FFF2-40B4-BE49-F238E27FC236}">
                  <a16:creationId xmlns:a16="http://schemas.microsoft.com/office/drawing/2014/main" id="{41E0E42B-9C90-4400-B4E1-4C7E312D3F5A}"/>
                </a:ext>
              </a:extLst>
            </p:cNvPr>
            <p:cNvSpPr/>
            <p:nvPr/>
          </p:nvSpPr>
          <p:spPr>
            <a:xfrm>
              <a:off x="7681851" y="6193918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eaten_at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왼쪽 대괄호 70">
              <a:extLst>
                <a:ext uri="{FF2B5EF4-FFF2-40B4-BE49-F238E27FC236}">
                  <a16:creationId xmlns:a16="http://schemas.microsoft.com/office/drawing/2014/main" id="{357B7D14-AD42-4B18-B37B-41FF1F4375AA}"/>
                </a:ext>
              </a:extLst>
            </p:cNvPr>
            <p:cNvSpPr/>
            <p:nvPr/>
          </p:nvSpPr>
          <p:spPr>
            <a:xfrm>
              <a:off x="6674661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오각형 111">
              <a:extLst>
                <a:ext uri="{FF2B5EF4-FFF2-40B4-BE49-F238E27FC236}">
                  <a16:creationId xmlns:a16="http://schemas.microsoft.com/office/drawing/2014/main" id="{03DEA76B-F4AE-42AD-90B4-37307862CFC2}"/>
                </a:ext>
              </a:extLst>
            </p:cNvPr>
            <p:cNvSpPr/>
            <p:nvPr/>
          </p:nvSpPr>
          <p:spPr>
            <a:xfrm>
              <a:off x="7681851" y="55584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contains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C920B09D-A6BC-453B-8146-822035FB491A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4472863"/>
              <a:ext cx="54000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FA5E1482-692D-4B69-A62F-09A444DF0A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738110"/>
              <a:ext cx="540000" cy="0"/>
            </a:xfrm>
            <a:prstGeom prst="straightConnector1">
              <a:avLst/>
            </a:prstGeom>
            <a:ln w="19050">
              <a:prstDash val="lgDashDot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E3424354-9337-48D2-8ACA-0F0F9441381B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6396121"/>
              <a:ext cx="540000" cy="0"/>
            </a:xfrm>
            <a:prstGeom prst="straightConnector1">
              <a:avLst/>
            </a:prstGeom>
            <a:ln w="19050">
              <a:prstDash val="sys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61B0142A-616F-4614-AEC3-C62A40DC2D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125320"/>
              <a:ext cx="540000" cy="0"/>
            </a:xfrm>
            <a:prstGeom prst="straightConnector1">
              <a:avLst/>
            </a:prstGeom>
            <a:ln w="19050">
              <a:prstDash val="dash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35BDE36-06F8-4CA8-A3DF-FA1F0FF8F40D}"/>
              </a:ext>
            </a:extLst>
          </p:cNvPr>
          <p:cNvSpPr/>
          <p:nvPr/>
        </p:nvSpPr>
        <p:spPr>
          <a:xfrm>
            <a:off x="537692" y="6527080"/>
            <a:ext cx="4381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도면 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6.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이종 그래프 구축 단계</a:t>
            </a:r>
          </a:p>
        </p:txBody>
      </p:sp>
    </p:spTree>
    <p:extLst>
      <p:ext uri="{BB962C8B-B14F-4D97-AF65-F5344CB8AC3E}">
        <p14:creationId xmlns:p14="http://schemas.microsoft.com/office/powerpoint/2010/main" val="80134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09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02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(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발명의 내용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해결 수단</a:t>
            </a:r>
            <a:endParaRPr kumimoji="0" lang="en-US" altLang="ko-KR" sz="2000" b="0" i="0" u="none" strike="noStrike" kern="1200" cap="none" spc="0" normalizeH="0" baseline="0" noProof="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1. 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학습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데이터를 위한 국건영 데이터 수집 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(Node)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45A9BB-8F8D-4565-B3E3-9522EEB43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34871"/>
              </p:ext>
            </p:extLst>
          </p:nvPr>
        </p:nvGraphicFramePr>
        <p:xfrm>
          <a:off x="929339" y="1527889"/>
          <a:ext cx="326871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964149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449936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449936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1543707633"/>
                    </a:ext>
                  </a:extLst>
                </a:gridCol>
                <a:gridCol w="449936">
                  <a:extLst>
                    <a:ext uri="{9D8B030D-6E8A-4147-A177-3AD203B41FA5}">
                      <a16:colId xmlns:a16="http://schemas.microsoft.com/office/drawing/2014/main" val="1800444802"/>
                    </a:ext>
                  </a:extLst>
                </a:gridCol>
                <a:gridCol w="449936">
                  <a:extLst>
                    <a:ext uri="{9D8B030D-6E8A-4147-A177-3AD203B41FA5}">
                      <a16:colId xmlns:a16="http://schemas.microsoft.com/office/drawing/2014/main" val="242512766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Users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 dirty="0">
                          <a:solidFill>
                            <a:srgbClr val="0070C0"/>
                          </a:solidFill>
                        </a:rPr>
                        <a:t>sex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age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PA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YA01220302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</a:rPr>
                        <a:t>2.0</a:t>
                      </a:r>
                      <a:endParaRPr lang="en-US" altLang="ko-KR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/>
                        <a:t>56.0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151.2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60.6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YA01220303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</a:rPr>
                        <a:t>1.0</a:t>
                      </a:r>
                      <a:endParaRPr lang="en-US" altLang="ko-KR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/>
                        <a:t>30.0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174.1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YA01220304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</a:rPr>
                        <a:t>2.0</a:t>
                      </a:r>
                      <a:endParaRPr lang="en-US" altLang="ko-KR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/>
                        <a:t>25.0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166.4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YA01236501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</a:rPr>
                        <a:t>1.0</a:t>
                      </a:r>
                      <a:endParaRPr lang="en-US" altLang="ko-KR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/>
                        <a:t>66.0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168.7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67.1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YA01236502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</a:rPr>
                        <a:t>2.0</a:t>
                      </a:r>
                      <a:endParaRPr lang="en-US" altLang="ko-KR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/>
                        <a:t>62.0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157.1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53.9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88D54462-FB8C-4523-AC60-1308D8F00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282945"/>
              </p:ext>
            </p:extLst>
          </p:nvPr>
        </p:nvGraphicFramePr>
        <p:xfrm>
          <a:off x="4309848" y="1527889"/>
          <a:ext cx="239238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708746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683642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Ingredients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cat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R106-208007901-0000</a:t>
                      </a:r>
                    </a:p>
                  </a:txBody>
                  <a:tcPr marL="64752" marR="64752" marT="32376" marB="3237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R318-020000000-0000</a:t>
                      </a:r>
                    </a:p>
                  </a:txBody>
                  <a:tcPr marL="64752" marR="64752" marT="32376" marB="3237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R118-009000087-0000</a:t>
                      </a:r>
                    </a:p>
                  </a:txBody>
                  <a:tcPr marL="64752" marR="64752" marT="32376" marB="3237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R114-020000000-0000</a:t>
                      </a:r>
                    </a:p>
                  </a:txBody>
                  <a:tcPr marL="64752" marR="64752" marT="32376" marB="3237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R106-191040001-0000</a:t>
                      </a:r>
                    </a:p>
                  </a:txBody>
                  <a:tcPr marL="64752" marR="64752" marT="32376" marB="3237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64752" marR="64752" marT="32376" marB="32376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030769DD-7B5A-4A63-8286-86741970A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4466"/>
              </p:ext>
            </p:extLst>
          </p:nvPr>
        </p:nvGraphicFramePr>
        <p:xfrm>
          <a:off x="9552830" y="3980105"/>
          <a:ext cx="1492542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746271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746271">
                  <a:extLst>
                    <a:ext uri="{9D8B030D-6E8A-4147-A177-3AD203B41FA5}">
                      <a16:colId xmlns:a16="http://schemas.microsoft.com/office/drawing/2014/main" val="6948316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Meal ID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kern="1200"/>
                        <a:t>1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아침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점심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저녁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간식</a:t>
                      </a:r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0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403617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23EC02E5-EE5D-4F0F-AF70-81CF0122CD66}"/>
              </a:ext>
            </a:extLst>
          </p:cNvPr>
          <p:cNvGraphicFramePr>
            <a:graphicFrameLocks noGrp="1"/>
          </p:cNvGraphicFramePr>
          <p:nvPr/>
        </p:nvGraphicFramePr>
        <p:xfrm>
          <a:off x="929339" y="3980105"/>
          <a:ext cx="830306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992872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1543707633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1800444802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2425127664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1012046737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2615356497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1010815186"/>
                    </a:ext>
                  </a:extLst>
                </a:gridCol>
                <a:gridCol w="812244">
                  <a:extLst>
                    <a:ext uri="{9D8B030D-6E8A-4147-A177-3AD203B41FA5}">
                      <a16:colId xmlns:a16="http://schemas.microsoft.com/office/drawing/2014/main" val="34069593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Foods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NF_CHO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NF_PROT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NF_FAT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NF_SFA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NF_CHOL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NF_TDF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NF_SUGAR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NF_NA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2872.586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620.06136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56.41994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7.98940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2.316620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24.60100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3.70936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17.962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4553.908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985.57592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91.77934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12.60836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3.706920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48.33880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5.64330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31.744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101027633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4630.975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1019.40200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82.06450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13.10750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3.783750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55.42750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52.59225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61.375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101028716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4719.936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1038.89100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82.28398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12.99486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3.766400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51.92300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55.15808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62.136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10104211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1057.012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188.85880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33.74223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18.65991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3.729569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263.41134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9.63038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3.61657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810.840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70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| (300)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식사 평가 모델 생성 모듈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(320)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맞춤 선호 및 조합 평가 모델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AA0FBA-4C6B-4A82-9657-7237077EF209}"/>
              </a:ext>
            </a:extLst>
          </p:cNvPr>
          <p:cNvSpPr txBox="1"/>
          <p:nvPr/>
        </p:nvSpPr>
        <p:spPr>
          <a:xfrm>
            <a:off x="5474094" y="1328463"/>
            <a:ext cx="6441772" cy="4575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 err="1">
                <a:solidFill>
                  <a:srgbClr val="7030A0"/>
                </a:solidFill>
              </a:rPr>
              <a:t>엣지</a:t>
            </a:r>
            <a:r>
              <a:rPr lang="ko-KR" altLang="ko-KR" sz="1400" dirty="0" err="1"/>
              <a:t>는</a:t>
            </a:r>
            <a:r>
              <a:rPr lang="ko-KR" altLang="ko-KR" sz="1400" dirty="0"/>
              <a:t> 하기와 같은 방식으로 구성될 수 있다</a:t>
            </a:r>
            <a:r>
              <a:rPr lang="en-US" altLang="ko-KR" sz="1400" dirty="0"/>
              <a:t>.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7030A0"/>
                </a:solidFill>
              </a:rPr>
              <a:t>'eats' </a:t>
            </a:r>
            <a:r>
              <a:rPr lang="ko-KR" altLang="ko-KR" sz="1400" b="1" dirty="0">
                <a:solidFill>
                  <a:srgbClr val="7030A0"/>
                </a:solidFill>
              </a:rPr>
              <a:t>관계 </a:t>
            </a:r>
            <a:r>
              <a:rPr lang="en-US" altLang="ko-KR" sz="1400" b="1" dirty="0">
                <a:solidFill>
                  <a:srgbClr val="7030A0"/>
                </a:solidFill>
              </a:rPr>
              <a:t>eats=(u, f)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사용자</a:t>
            </a:r>
            <a:r>
              <a:rPr lang="en-US" altLang="ko-KR" sz="1200" dirty="0"/>
              <a:t> u</a:t>
            </a:r>
            <a:r>
              <a:rPr lang="ko-KR" altLang="ko-KR" sz="1200" dirty="0"/>
              <a:t>가 음식</a:t>
            </a:r>
            <a:r>
              <a:rPr lang="en-US" altLang="ko-KR" sz="1200" dirty="0"/>
              <a:t> f</a:t>
            </a:r>
            <a:r>
              <a:rPr lang="ko-KR" altLang="ko-KR" sz="1200" dirty="0" err="1"/>
              <a:t>를</a:t>
            </a:r>
            <a:r>
              <a:rPr lang="ko-KR" altLang="ko-KR" sz="1200" dirty="0"/>
              <a:t> </a:t>
            </a:r>
            <a:r>
              <a:rPr lang="ko-KR" altLang="en-US" sz="1200" dirty="0"/>
              <a:t>절반 이상 </a:t>
            </a:r>
            <a:r>
              <a:rPr lang="ko-KR" altLang="ko-KR" sz="1200" dirty="0"/>
              <a:t>섭취</a:t>
            </a:r>
            <a:r>
              <a:rPr lang="ko-KR" altLang="en-US" sz="1200" dirty="0"/>
              <a:t>하였는지</a:t>
            </a:r>
            <a:r>
              <a:rPr lang="ko-KR" altLang="ko-KR" sz="1200" dirty="0"/>
              <a:t> </a:t>
            </a:r>
            <a:r>
              <a:rPr lang="ko-KR" altLang="en-US" sz="1200" dirty="0"/>
              <a:t>여부</a:t>
            </a:r>
            <a:endParaRPr lang="en-US" altLang="ko-KR" sz="12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음식 전체 중량 대비 사용자가 섭취한 중량이</a:t>
            </a:r>
            <a:r>
              <a:rPr lang="en-US" altLang="ko-KR" sz="1200" dirty="0"/>
              <a:t> 50% </a:t>
            </a:r>
            <a:r>
              <a:rPr lang="ko-KR" altLang="ko-KR" sz="1200" dirty="0"/>
              <a:t>이상일 경우 </a:t>
            </a:r>
            <a:r>
              <a:rPr lang="en-US" altLang="ko-KR" sz="1200" dirty="0"/>
              <a:t>1</a:t>
            </a:r>
            <a:r>
              <a:rPr lang="ko-KR" altLang="ko-KR" sz="1200" dirty="0"/>
              <a:t>로 정의</a:t>
            </a:r>
            <a:endParaRPr lang="en-US" altLang="ko-KR" sz="12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7030A0"/>
                </a:solidFill>
              </a:rPr>
              <a:t>'pairs' </a:t>
            </a:r>
            <a:r>
              <a:rPr lang="ko-KR" altLang="ko-KR" sz="1400" b="1" dirty="0">
                <a:solidFill>
                  <a:srgbClr val="7030A0"/>
                </a:solidFill>
              </a:rPr>
              <a:t>관계</a:t>
            </a:r>
            <a:r>
              <a:rPr lang="en-US" altLang="ko-KR" sz="1400" b="1" dirty="0">
                <a:solidFill>
                  <a:srgbClr val="7030A0"/>
                </a:solidFill>
              </a:rPr>
              <a:t> pairs=(f1, f2)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음식</a:t>
            </a:r>
            <a:r>
              <a:rPr lang="en-US" altLang="ko-KR" sz="1200" dirty="0"/>
              <a:t> f1</a:t>
            </a:r>
            <a:r>
              <a:rPr lang="ko-KR" altLang="ko-KR" sz="1200" dirty="0"/>
              <a:t>과</a:t>
            </a:r>
            <a:r>
              <a:rPr lang="en-US" altLang="ko-KR" sz="1200" dirty="0"/>
              <a:t> f2</a:t>
            </a:r>
            <a:r>
              <a:rPr lang="ko-KR" altLang="ko-KR" sz="1200" dirty="0"/>
              <a:t>가 함께 섭취된 끼니의 여부</a:t>
            </a:r>
            <a:endParaRPr lang="en-US" altLang="ko-KR" sz="12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어느 사용자라도 두 음식을 한 끼니에 섭취한 사례가 있을 경우</a:t>
            </a:r>
            <a:r>
              <a:rPr lang="en-US" altLang="ko-KR" sz="1200" dirty="0"/>
              <a:t> 1</a:t>
            </a:r>
            <a:r>
              <a:rPr lang="ko-KR" altLang="ko-KR" sz="1200" dirty="0"/>
              <a:t>로 정의</a:t>
            </a:r>
            <a:endParaRPr lang="en-US" altLang="ko-KR" sz="12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7030A0"/>
                </a:solidFill>
              </a:rPr>
              <a:t>'contains' </a:t>
            </a:r>
            <a:r>
              <a:rPr lang="ko-KR" altLang="ko-KR" sz="1400" b="1" dirty="0">
                <a:solidFill>
                  <a:srgbClr val="7030A0"/>
                </a:solidFill>
              </a:rPr>
              <a:t>관계</a:t>
            </a:r>
            <a:r>
              <a:rPr lang="en-US" altLang="ko-KR" sz="1400" b="1" dirty="0">
                <a:solidFill>
                  <a:srgbClr val="7030A0"/>
                </a:solidFill>
              </a:rPr>
              <a:t> contains=(f, mi) </a:t>
            </a:r>
            <a:r>
              <a:rPr lang="ko-KR" altLang="ko-KR" sz="1400" b="1" dirty="0">
                <a:solidFill>
                  <a:srgbClr val="7030A0"/>
                </a:solidFill>
              </a:rPr>
              <a:t>또는</a:t>
            </a:r>
            <a:r>
              <a:rPr lang="en-US" altLang="ko-KR" sz="1400" b="1" dirty="0">
                <a:solidFill>
                  <a:srgbClr val="7030A0"/>
                </a:solidFill>
              </a:rPr>
              <a:t> (f, fi)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음식</a:t>
            </a:r>
            <a:r>
              <a:rPr lang="en-US" altLang="ko-KR" sz="1200" dirty="0"/>
              <a:t> f</a:t>
            </a:r>
            <a:r>
              <a:rPr lang="ko-KR" altLang="ko-KR" sz="1200" dirty="0"/>
              <a:t>가 주재료 </a:t>
            </a:r>
            <a:r>
              <a:rPr lang="en-US" altLang="ko-KR" sz="1200" dirty="0"/>
              <a:t>mi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절반 이상 </a:t>
            </a:r>
            <a:r>
              <a:rPr lang="ko-KR" altLang="ko-KR" sz="1200" dirty="0"/>
              <a:t>또는 맛 재</a:t>
            </a:r>
            <a:r>
              <a:rPr lang="ko-KR" altLang="en-US" sz="1200" dirty="0"/>
              <a:t>료</a:t>
            </a:r>
            <a:r>
              <a:rPr lang="ko-KR" altLang="ko-KR" sz="1200" dirty="0"/>
              <a:t> </a:t>
            </a:r>
            <a:r>
              <a:rPr lang="en-US" altLang="ko-KR" sz="1200" dirty="0"/>
              <a:t>fi</a:t>
            </a:r>
            <a:r>
              <a:rPr lang="ko-KR" altLang="ko-KR" sz="1200" dirty="0" err="1"/>
              <a:t>를</a:t>
            </a:r>
            <a:r>
              <a:rPr lang="ko-KR" altLang="ko-KR" sz="1200" dirty="0"/>
              <a:t> 포함하</a:t>
            </a:r>
            <a:r>
              <a:rPr lang="ko-KR" altLang="en-US" sz="1200" dirty="0"/>
              <a:t>였는지 여부</a:t>
            </a:r>
            <a:endParaRPr lang="en-US" altLang="ko-KR" sz="12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(f, mi) : </a:t>
            </a:r>
            <a:r>
              <a:rPr lang="ko-KR" altLang="ko-KR" sz="1200" dirty="0"/>
              <a:t>음식 전체 식재료 중량 대비 </a:t>
            </a:r>
            <a:r>
              <a:rPr lang="en-US" altLang="ko-KR" sz="1200" dirty="0"/>
              <a:t>mi</a:t>
            </a:r>
            <a:r>
              <a:rPr lang="ko-KR" altLang="ko-KR" sz="1200" dirty="0"/>
              <a:t> 중량이 </a:t>
            </a:r>
            <a:r>
              <a:rPr lang="en-US" altLang="ko-KR" sz="1200" dirty="0"/>
              <a:t>50% </a:t>
            </a:r>
            <a:r>
              <a:rPr lang="ko-KR" altLang="ko-KR" sz="1200" dirty="0"/>
              <a:t>이상일 경우 </a:t>
            </a:r>
            <a:r>
              <a:rPr lang="en-US" altLang="ko-KR" sz="1200" dirty="0"/>
              <a:t>1</a:t>
            </a:r>
            <a:r>
              <a:rPr lang="ko-KR" altLang="ko-KR" sz="1200" dirty="0"/>
              <a:t>로 정의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(f, fi) :</a:t>
            </a:r>
            <a:r>
              <a:rPr lang="ko-KR" altLang="ko-KR" sz="1200" dirty="0"/>
              <a:t> 음식에 </a:t>
            </a:r>
            <a:r>
              <a:rPr lang="en-US" altLang="ko-KR" sz="1200" dirty="0"/>
              <a:t>fi</a:t>
            </a:r>
            <a:r>
              <a:rPr lang="ko-KR" altLang="ko-KR" sz="1200" dirty="0"/>
              <a:t>가 포함되어 있을 경우 </a:t>
            </a:r>
            <a:r>
              <a:rPr lang="en-US" altLang="ko-KR" sz="1200" dirty="0"/>
              <a:t>1</a:t>
            </a:r>
            <a:r>
              <a:rPr lang="ko-KR" altLang="ko-KR" sz="1200" dirty="0"/>
              <a:t>로 정의</a:t>
            </a:r>
            <a:endParaRPr lang="en-US" altLang="ko-KR" sz="1400" dirty="0"/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7030A0"/>
                </a:solidFill>
              </a:rPr>
              <a:t>'</a:t>
            </a:r>
            <a:r>
              <a:rPr lang="en-US" altLang="ko-KR" sz="1400" b="1" dirty="0" err="1">
                <a:solidFill>
                  <a:srgbClr val="7030A0"/>
                </a:solidFill>
              </a:rPr>
              <a:t>eaten_at</a:t>
            </a:r>
            <a:r>
              <a:rPr lang="en-US" altLang="ko-KR" sz="1400" b="1" dirty="0">
                <a:solidFill>
                  <a:srgbClr val="7030A0"/>
                </a:solidFill>
              </a:rPr>
              <a:t>' </a:t>
            </a:r>
            <a:r>
              <a:rPr lang="ko-KR" altLang="ko-KR" sz="1400" b="1" dirty="0">
                <a:solidFill>
                  <a:srgbClr val="7030A0"/>
                </a:solidFill>
              </a:rPr>
              <a:t>관계</a:t>
            </a:r>
            <a:r>
              <a:rPr lang="en-US" altLang="ko-KR" sz="1400" b="1" dirty="0">
                <a:solidFill>
                  <a:srgbClr val="7030A0"/>
                </a:solidFill>
              </a:rPr>
              <a:t> </a:t>
            </a:r>
            <a:r>
              <a:rPr lang="en-US" altLang="ko-KR" sz="1400" b="1" dirty="0" err="1">
                <a:solidFill>
                  <a:srgbClr val="7030A0"/>
                </a:solidFill>
              </a:rPr>
              <a:t>eaten_at</a:t>
            </a:r>
            <a:r>
              <a:rPr lang="en-US" altLang="ko-KR" sz="1400" b="1" dirty="0">
                <a:solidFill>
                  <a:srgbClr val="7030A0"/>
                </a:solidFill>
              </a:rPr>
              <a:t>=(f, m)</a:t>
            </a:r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음식</a:t>
            </a:r>
            <a:r>
              <a:rPr lang="en-US" altLang="ko-KR" sz="1200" dirty="0"/>
              <a:t> f</a:t>
            </a:r>
            <a:r>
              <a:rPr lang="ko-KR" altLang="ko-KR" sz="1200" dirty="0"/>
              <a:t>가 특정 </a:t>
            </a:r>
            <a:r>
              <a:rPr lang="ko-KR" altLang="ko-KR" sz="1200"/>
              <a:t>식사 </a:t>
            </a:r>
            <a:r>
              <a:rPr lang="ko-KR" altLang="en-US" sz="1200"/>
              <a:t>끼니</a:t>
            </a:r>
            <a:r>
              <a:rPr lang="en-US" altLang="ko-KR" sz="1200"/>
              <a:t> </a:t>
            </a:r>
            <a:r>
              <a:rPr lang="en-US" altLang="ko-KR" sz="1200" dirty="0"/>
              <a:t>m</a:t>
            </a:r>
            <a:r>
              <a:rPr lang="ko-KR" altLang="ko-KR" sz="1200" dirty="0" err="1"/>
              <a:t>에</a:t>
            </a:r>
            <a:r>
              <a:rPr lang="ko-KR" altLang="ko-KR" sz="1200" dirty="0"/>
              <a:t> </a:t>
            </a:r>
            <a:r>
              <a:rPr lang="ko-KR" altLang="en-US" sz="1200" dirty="0"/>
              <a:t>주로 </a:t>
            </a:r>
            <a:r>
              <a:rPr lang="ko-KR" altLang="ko-KR" sz="1200" dirty="0"/>
              <a:t>섭취</a:t>
            </a:r>
            <a:r>
              <a:rPr lang="ko-KR" altLang="en-US" sz="1200" dirty="0"/>
              <a:t>되었는지 여부</a:t>
            </a:r>
            <a:endParaRPr lang="en-US" altLang="ko-KR" sz="1200" dirty="0"/>
          </a:p>
          <a:p>
            <a:pPr marL="1200150" lvl="2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/>
              <a:t>사용자들의 식사 시간 데이터를 기반</a:t>
            </a:r>
            <a:r>
              <a:rPr lang="ko-KR" altLang="en-US" sz="1200" dirty="0"/>
              <a:t>으로</a:t>
            </a:r>
            <a:r>
              <a:rPr lang="en-US" altLang="ko-KR" sz="1200" dirty="0"/>
              <a:t> </a:t>
            </a:r>
            <a:r>
              <a:rPr lang="ko-KR" altLang="ko-KR" sz="1200" dirty="0"/>
              <a:t>해당 음식이 섭취된 끼니의 비율이 </a:t>
            </a:r>
            <a:r>
              <a:rPr lang="en-US" altLang="ko-KR" sz="1200" dirty="0"/>
              <a:t>30% </a:t>
            </a:r>
            <a:r>
              <a:rPr lang="ko-KR" altLang="ko-KR" sz="1200" dirty="0"/>
              <a:t>이상인 끼니의 경우 </a:t>
            </a:r>
            <a:r>
              <a:rPr lang="en-US" altLang="ko-KR" sz="1200" dirty="0"/>
              <a:t>1</a:t>
            </a:r>
            <a:r>
              <a:rPr lang="ko-KR" altLang="ko-KR" sz="1200" dirty="0"/>
              <a:t>로 정의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F4131A-EAB3-4CA0-AAC8-1308ACAB0E70}"/>
              </a:ext>
            </a:extLst>
          </p:cNvPr>
          <p:cNvSpPr txBox="1"/>
          <p:nvPr/>
        </p:nvSpPr>
        <p:spPr>
          <a:xfrm>
            <a:off x="203625" y="710667"/>
            <a:ext cx="1178475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1">
                <a:solidFill>
                  <a:srgbClr val="7030A0"/>
                </a:solidFill>
              </a:rPr>
              <a:t>[321] </a:t>
            </a:r>
            <a:r>
              <a:rPr lang="ko-KR" altLang="ko-KR" sz="1600" b="1">
                <a:solidFill>
                  <a:srgbClr val="7030A0"/>
                </a:solidFill>
              </a:rPr>
              <a:t>이종 그래프 구축 단</a:t>
            </a:r>
            <a:r>
              <a:rPr lang="ko-KR" altLang="en-US" sz="1600" b="1">
                <a:solidFill>
                  <a:srgbClr val="7030A0"/>
                </a:solidFill>
              </a:rPr>
              <a:t>계 </a:t>
            </a:r>
            <a:r>
              <a:rPr lang="en-US" altLang="ko-KR" sz="1600"/>
              <a:t>_ </a:t>
            </a:r>
            <a:r>
              <a:rPr lang="ko-KR" altLang="en-US" sz="1600" b="1">
                <a:solidFill>
                  <a:srgbClr val="7030A0"/>
                </a:solidFill>
              </a:rPr>
              <a:t>엣지</a:t>
            </a:r>
            <a:r>
              <a:rPr lang="en-US" altLang="ko-KR" sz="1600"/>
              <a:t>: eats, pairs, contains, eaten_at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B76BC68-0773-4B92-BBB7-EFEB352E1DCD}"/>
              </a:ext>
            </a:extLst>
          </p:cNvPr>
          <p:cNvGrpSpPr/>
          <p:nvPr/>
        </p:nvGrpSpPr>
        <p:grpSpPr>
          <a:xfrm>
            <a:off x="561909" y="1335549"/>
            <a:ext cx="4707676" cy="5056460"/>
            <a:chOff x="3342815" y="904904"/>
            <a:chExt cx="5094037" cy="5677902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F60B8F84-E289-43A1-98DF-5F92FA0B6DF2}"/>
                </a:ext>
              </a:extLst>
            </p:cNvPr>
            <p:cNvGrpSpPr/>
            <p:nvPr/>
          </p:nvGrpSpPr>
          <p:grpSpPr>
            <a:xfrm>
              <a:off x="3342815" y="904904"/>
              <a:ext cx="4947442" cy="3171397"/>
              <a:chOff x="2922748" y="2087154"/>
              <a:chExt cx="4947442" cy="3171397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CCC13B2-5309-429D-B8A6-3B06BEE96B28}"/>
                  </a:ext>
                </a:extLst>
              </p:cNvPr>
              <p:cNvSpPr/>
              <p:nvPr/>
            </p:nvSpPr>
            <p:spPr>
              <a:xfrm>
                <a:off x="2922748" y="2995255"/>
                <a:ext cx="900000" cy="900000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U</a:t>
                </a: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9F85660A-2348-4882-9CB4-48BC8035D26F}"/>
                  </a:ext>
                </a:extLst>
              </p:cNvPr>
              <p:cNvSpPr/>
              <p:nvPr/>
            </p:nvSpPr>
            <p:spPr>
              <a:xfrm>
                <a:off x="4782999" y="2997853"/>
                <a:ext cx="900000" cy="900000"/>
              </a:xfrm>
              <a:prstGeom prst="ellipse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</a:t>
                </a:r>
              </a:p>
            </p:txBody>
          </p:sp>
          <p:sp>
            <p:nvSpPr>
              <p:cNvPr id="79" name="다이아몬드 78">
                <a:extLst>
                  <a:ext uri="{FF2B5EF4-FFF2-40B4-BE49-F238E27FC236}">
                    <a16:creationId xmlns:a16="http://schemas.microsoft.com/office/drawing/2014/main" id="{ED92EB94-3643-44DA-8DF1-9DA3E8615924}"/>
                  </a:ext>
                </a:extLst>
              </p:cNvPr>
              <p:cNvSpPr/>
              <p:nvPr/>
            </p:nvSpPr>
            <p:spPr>
              <a:xfrm>
                <a:off x="4782999" y="4358551"/>
                <a:ext cx="900000" cy="900000"/>
              </a:xfrm>
              <a:prstGeom prst="diamond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</a:t>
                </a:r>
              </a:p>
            </p:txBody>
          </p:sp>
          <p:cxnSp>
            <p:nvCxnSpPr>
              <p:cNvPr id="80" name="직선 화살표 연결선 79">
                <a:extLst>
                  <a:ext uri="{FF2B5EF4-FFF2-40B4-BE49-F238E27FC236}">
                    <a16:creationId xmlns:a16="http://schemas.microsoft.com/office/drawing/2014/main" id="{62DC0023-EB78-4DED-B96A-24069D4F42DF}"/>
                  </a:ext>
                </a:extLst>
              </p:cNvPr>
              <p:cNvCxnSpPr>
                <a:cxnSpLocks/>
                <a:stCxn id="77" idx="3"/>
                <a:endCxn id="78" idx="2"/>
              </p:cNvCxnSpPr>
              <p:nvPr/>
            </p:nvCxnSpPr>
            <p:spPr>
              <a:xfrm>
                <a:off x="3822748" y="3445255"/>
                <a:ext cx="960251" cy="25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6368F88C-F659-4E01-B53E-997A347F9D93}"/>
                  </a:ext>
                </a:extLst>
              </p:cNvPr>
              <p:cNvSpPr/>
              <p:nvPr/>
            </p:nvSpPr>
            <p:spPr>
              <a:xfrm>
                <a:off x="4065939" y="3087192"/>
                <a:ext cx="53412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직선 화살표 연결선 82">
                <a:extLst>
                  <a:ext uri="{FF2B5EF4-FFF2-40B4-BE49-F238E27FC236}">
                    <a16:creationId xmlns:a16="http://schemas.microsoft.com/office/drawing/2014/main" id="{D1520F2D-8DEF-4B4E-AE53-BA2ADAAA0315}"/>
                  </a:ext>
                </a:extLst>
              </p:cNvPr>
              <p:cNvCxnSpPr>
                <a:cxnSpLocks/>
                <a:stCxn id="78" idx="6"/>
              </p:cNvCxnSpPr>
              <p:nvPr/>
            </p:nvCxnSpPr>
            <p:spPr>
              <a:xfrm flipV="1">
                <a:off x="5682999" y="2644369"/>
                <a:ext cx="1143191" cy="803484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직선 화살표 연결선 83">
                <a:extLst>
                  <a:ext uri="{FF2B5EF4-FFF2-40B4-BE49-F238E27FC236}">
                    <a16:creationId xmlns:a16="http://schemas.microsoft.com/office/drawing/2014/main" id="{8D748614-8BA2-4FE4-A7EC-3532FBC14986}"/>
                  </a:ext>
                </a:extLst>
              </p:cNvPr>
              <p:cNvCxnSpPr>
                <a:cxnSpLocks/>
                <a:stCxn id="78" idx="4"/>
                <a:endCxn id="79" idx="0"/>
              </p:cNvCxnSpPr>
              <p:nvPr/>
            </p:nvCxnSpPr>
            <p:spPr>
              <a:xfrm>
                <a:off x="5232999" y="3897853"/>
                <a:ext cx="0" cy="460698"/>
              </a:xfrm>
              <a:prstGeom prst="straightConnector1">
                <a:avLst/>
              </a:prstGeom>
              <a:ln w="28575">
                <a:prstDash val="sys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390BA735-4CDF-4F83-A26B-E91840ECBF4A}"/>
                  </a:ext>
                </a:extLst>
              </p:cNvPr>
              <p:cNvSpPr/>
              <p:nvPr/>
            </p:nvSpPr>
            <p:spPr>
              <a:xfrm>
                <a:off x="4357578" y="3940984"/>
                <a:ext cx="90204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eaten_at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6" name="원호 85">
                <a:extLst>
                  <a:ext uri="{FF2B5EF4-FFF2-40B4-BE49-F238E27FC236}">
                    <a16:creationId xmlns:a16="http://schemas.microsoft.com/office/drawing/2014/main" id="{C371227D-2FCF-45C4-9767-6452F60CE05E}"/>
                  </a:ext>
                </a:extLst>
              </p:cNvPr>
              <p:cNvSpPr/>
              <p:nvPr/>
            </p:nvSpPr>
            <p:spPr>
              <a:xfrm>
                <a:off x="4816072" y="2156958"/>
                <a:ext cx="833854" cy="892944"/>
              </a:xfrm>
              <a:prstGeom prst="arc">
                <a:avLst>
                  <a:gd name="adj1" fmla="val 7104086"/>
                  <a:gd name="adj2" fmla="val 3665856"/>
                </a:avLst>
              </a:prstGeom>
              <a:ln w="28575">
                <a:prstDash val="dash"/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BBCAB350-97B0-4924-A91F-F42240EE377D}"/>
                  </a:ext>
                </a:extLst>
              </p:cNvPr>
              <p:cNvSpPr/>
              <p:nvPr/>
            </p:nvSpPr>
            <p:spPr>
              <a:xfrm>
                <a:off x="4934424" y="2423517"/>
                <a:ext cx="5971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pairs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8" name="오각형 87">
                <a:extLst>
                  <a:ext uri="{FF2B5EF4-FFF2-40B4-BE49-F238E27FC236}">
                    <a16:creationId xmlns:a16="http://schemas.microsoft.com/office/drawing/2014/main" id="{39A631C9-EC80-4680-A9BB-4EE6C809D7D5}"/>
                  </a:ext>
                </a:extLst>
              </p:cNvPr>
              <p:cNvSpPr/>
              <p:nvPr/>
            </p:nvSpPr>
            <p:spPr>
              <a:xfrm>
                <a:off x="6898190" y="2087154"/>
                <a:ext cx="900000" cy="900000"/>
              </a:xfrm>
              <a:prstGeom prst="pentagon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14400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MI</a:t>
                </a:r>
              </a:p>
            </p:txBody>
          </p:sp>
          <p:sp>
            <p:nvSpPr>
              <p:cNvPr id="89" name="육각형 88">
                <a:extLst>
                  <a:ext uri="{FF2B5EF4-FFF2-40B4-BE49-F238E27FC236}">
                    <a16:creationId xmlns:a16="http://schemas.microsoft.com/office/drawing/2014/main" id="{C98857C1-6066-412C-954B-4ACC49552C71}"/>
                  </a:ext>
                </a:extLst>
              </p:cNvPr>
              <p:cNvSpPr/>
              <p:nvPr/>
            </p:nvSpPr>
            <p:spPr>
              <a:xfrm>
                <a:off x="6826190" y="3908551"/>
                <a:ext cx="1044000" cy="900000"/>
              </a:xfrm>
              <a:prstGeom prst="hexagon">
                <a:avLst>
                  <a:gd name="adj" fmla="val 26499"/>
                  <a:gd name="vf" fmla="val 115470"/>
                </a:avLst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600" b="1">
                    <a:solidFill>
                      <a:sysClr val="windowText" lastClr="000000"/>
                    </a:solidFill>
                  </a:rPr>
                  <a:t>FI</a:t>
                </a:r>
              </a:p>
            </p:txBody>
          </p:sp>
          <p:cxnSp>
            <p:nvCxnSpPr>
              <p:cNvPr id="90" name="직선 화살표 연결선 89">
                <a:extLst>
                  <a:ext uri="{FF2B5EF4-FFF2-40B4-BE49-F238E27FC236}">
                    <a16:creationId xmlns:a16="http://schemas.microsoft.com/office/drawing/2014/main" id="{3A72CAF0-C2D3-4896-AEC5-A493DA5A3F0D}"/>
                  </a:ext>
                </a:extLst>
              </p:cNvPr>
              <p:cNvCxnSpPr>
                <a:cxnSpLocks/>
                <a:stCxn id="78" idx="6"/>
                <a:endCxn id="89" idx="3"/>
              </p:cNvCxnSpPr>
              <p:nvPr/>
            </p:nvCxnSpPr>
            <p:spPr>
              <a:xfrm>
                <a:off x="5682999" y="3447853"/>
                <a:ext cx="1143191" cy="910698"/>
              </a:xfrm>
              <a:prstGeom prst="straightConnector1">
                <a:avLst/>
              </a:prstGeom>
              <a:ln w="28575">
                <a:prstDash val="lgDashDotDot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BF88E05B-CCC2-446D-9F5B-F6AF73621105}"/>
                  </a:ext>
                </a:extLst>
              </p:cNvPr>
              <p:cNvSpPr/>
              <p:nvPr/>
            </p:nvSpPr>
            <p:spPr>
              <a:xfrm>
                <a:off x="5958054" y="3291366"/>
                <a:ext cx="90120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400" b="1">
                    <a:solidFill>
                      <a:sysClr val="windowText" lastClr="000000"/>
                    </a:solidFill>
                  </a:rPr>
                  <a:t>contains</a:t>
                </a:r>
                <a:endParaRPr lang="ko-KR" altLang="en-US" sz="1400" b="1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4BCB38F-CB09-4822-AA66-E875310BB845}"/>
                </a:ext>
              </a:extLst>
            </p:cNvPr>
            <p:cNvSpPr/>
            <p:nvPr/>
          </p:nvSpPr>
          <p:spPr>
            <a:xfrm>
              <a:off x="3698079" y="4284020"/>
              <a:ext cx="360000" cy="36000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EF403BF-0C65-4E8F-A7B5-82F3E4958E9F}"/>
                </a:ext>
              </a:extLst>
            </p:cNvPr>
            <p:cNvSpPr/>
            <p:nvPr/>
          </p:nvSpPr>
          <p:spPr>
            <a:xfrm>
              <a:off x="4263330" y="4317606"/>
              <a:ext cx="1800000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U: user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3D357AF7-874A-4507-9023-85DA9980A686}"/>
                </a:ext>
              </a:extLst>
            </p:cNvPr>
            <p:cNvSpPr/>
            <p:nvPr/>
          </p:nvSpPr>
          <p:spPr>
            <a:xfrm>
              <a:off x="3698079" y="4768717"/>
              <a:ext cx="360000" cy="3600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타원 109">
              <a:extLst>
                <a:ext uri="{FF2B5EF4-FFF2-40B4-BE49-F238E27FC236}">
                  <a16:creationId xmlns:a16="http://schemas.microsoft.com/office/drawing/2014/main" id="{83DAD4D2-C235-417C-97C4-E97D9937EC02}"/>
                </a:ext>
              </a:extLst>
            </p:cNvPr>
            <p:cNvSpPr/>
            <p:nvPr/>
          </p:nvSpPr>
          <p:spPr>
            <a:xfrm>
              <a:off x="4263330" y="4772114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F: food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다이아몬드 49">
              <a:extLst>
                <a:ext uri="{FF2B5EF4-FFF2-40B4-BE49-F238E27FC236}">
                  <a16:creationId xmlns:a16="http://schemas.microsoft.com/office/drawing/2014/main" id="{385715FC-BCBF-432D-BEA6-6DA4E1748CBF}"/>
                </a:ext>
              </a:extLst>
            </p:cNvPr>
            <p:cNvSpPr/>
            <p:nvPr/>
          </p:nvSpPr>
          <p:spPr>
            <a:xfrm>
              <a:off x="3698079" y="6222806"/>
              <a:ext cx="360000" cy="360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다이아몬드 110">
              <a:extLst>
                <a:ext uri="{FF2B5EF4-FFF2-40B4-BE49-F238E27FC236}">
                  <a16:creationId xmlns:a16="http://schemas.microsoft.com/office/drawing/2014/main" id="{6DC9DFCA-C85B-4D8D-9C16-7081C2E3A6AC}"/>
                </a:ext>
              </a:extLst>
            </p:cNvPr>
            <p:cNvSpPr/>
            <p:nvPr/>
          </p:nvSpPr>
          <p:spPr>
            <a:xfrm>
              <a:off x="4263330" y="6258488"/>
              <a:ext cx="1800000" cy="2886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M: meal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육각형 57">
              <a:extLst>
                <a:ext uri="{FF2B5EF4-FFF2-40B4-BE49-F238E27FC236}">
                  <a16:creationId xmlns:a16="http://schemas.microsoft.com/office/drawing/2014/main" id="{120D563F-1877-4894-AE30-8D67D6D1C725}"/>
                </a:ext>
              </a:extLst>
            </p:cNvPr>
            <p:cNvSpPr/>
            <p:nvPr/>
          </p:nvSpPr>
          <p:spPr>
            <a:xfrm>
              <a:off x="3698079" y="5738110"/>
              <a:ext cx="360000" cy="360000"/>
            </a:xfrm>
            <a:prstGeom prst="hexagon">
              <a:avLst>
                <a:gd name="adj" fmla="val 23080"/>
                <a:gd name="vf" fmla="val 115470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육각형 112">
              <a:extLst>
                <a:ext uri="{FF2B5EF4-FFF2-40B4-BE49-F238E27FC236}">
                  <a16:creationId xmlns:a16="http://schemas.microsoft.com/office/drawing/2014/main" id="{9CD0DC31-F0B6-4F06-B151-1255D5329569}"/>
                </a:ext>
              </a:extLst>
            </p:cNvPr>
            <p:cNvSpPr/>
            <p:nvPr/>
          </p:nvSpPr>
          <p:spPr>
            <a:xfrm>
              <a:off x="4263330" y="57415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FI: flavor_ingredient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왼쪽 대괄호 60">
              <a:extLst>
                <a:ext uri="{FF2B5EF4-FFF2-40B4-BE49-F238E27FC236}">
                  <a16:creationId xmlns:a16="http://schemas.microsoft.com/office/drawing/2014/main" id="{40586ED1-1265-4B25-B187-AAAE0636E73F}"/>
                </a:ext>
              </a:extLst>
            </p:cNvPr>
            <p:cNvSpPr/>
            <p:nvPr/>
          </p:nvSpPr>
          <p:spPr>
            <a:xfrm>
              <a:off x="3342815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오각형 61">
              <a:extLst>
                <a:ext uri="{FF2B5EF4-FFF2-40B4-BE49-F238E27FC236}">
                  <a16:creationId xmlns:a16="http://schemas.microsoft.com/office/drawing/2014/main" id="{147F7EFD-7D33-47A6-8AEB-8C8F91FFA6EE}"/>
                </a:ext>
              </a:extLst>
            </p:cNvPr>
            <p:cNvSpPr/>
            <p:nvPr/>
          </p:nvSpPr>
          <p:spPr>
            <a:xfrm>
              <a:off x="3698079" y="5256810"/>
              <a:ext cx="360000" cy="360000"/>
            </a:xfrm>
            <a:prstGeom prst="pentagon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오각형 111">
              <a:extLst>
                <a:ext uri="{FF2B5EF4-FFF2-40B4-BE49-F238E27FC236}">
                  <a16:creationId xmlns:a16="http://schemas.microsoft.com/office/drawing/2014/main" id="{A8298B8D-E404-4FEA-91AC-12A51A91E84B}"/>
                </a:ext>
              </a:extLst>
            </p:cNvPr>
            <p:cNvSpPr/>
            <p:nvPr/>
          </p:nvSpPr>
          <p:spPr>
            <a:xfrm>
              <a:off x="4263330" y="5260207"/>
              <a:ext cx="1800000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MI: main_ingredient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774BC72-8673-4D54-8078-A491EF280E7A}"/>
                </a:ext>
              </a:extLst>
            </p:cNvPr>
            <p:cNvSpPr/>
            <p:nvPr/>
          </p:nvSpPr>
          <p:spPr>
            <a:xfrm>
              <a:off x="7681851" y="4317606"/>
              <a:ext cx="755001" cy="29282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타원 109">
              <a:extLst>
                <a:ext uri="{FF2B5EF4-FFF2-40B4-BE49-F238E27FC236}">
                  <a16:creationId xmlns:a16="http://schemas.microsoft.com/office/drawing/2014/main" id="{B4E1EB66-8BDF-483C-A499-3367EB845E29}"/>
                </a:ext>
              </a:extLst>
            </p:cNvPr>
            <p:cNvSpPr/>
            <p:nvPr/>
          </p:nvSpPr>
          <p:spPr>
            <a:xfrm>
              <a:off x="7681851" y="49229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pairs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육각형 112">
              <a:extLst>
                <a:ext uri="{FF2B5EF4-FFF2-40B4-BE49-F238E27FC236}">
                  <a16:creationId xmlns:a16="http://schemas.microsoft.com/office/drawing/2014/main" id="{62FB772E-99A0-4099-B79A-785B0148757F}"/>
                </a:ext>
              </a:extLst>
            </p:cNvPr>
            <p:cNvSpPr/>
            <p:nvPr/>
          </p:nvSpPr>
          <p:spPr>
            <a:xfrm>
              <a:off x="7681851" y="6193918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eaten_at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왼쪽 대괄호 70">
              <a:extLst>
                <a:ext uri="{FF2B5EF4-FFF2-40B4-BE49-F238E27FC236}">
                  <a16:creationId xmlns:a16="http://schemas.microsoft.com/office/drawing/2014/main" id="{1E4FBB45-9E75-42D8-AD5F-64769E60D905}"/>
                </a:ext>
              </a:extLst>
            </p:cNvPr>
            <p:cNvSpPr/>
            <p:nvPr/>
          </p:nvSpPr>
          <p:spPr>
            <a:xfrm>
              <a:off x="6674661" y="4284020"/>
              <a:ext cx="114013" cy="2298783"/>
            </a:xfrm>
            <a:prstGeom prst="leftBracket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오각형 111">
              <a:extLst>
                <a:ext uri="{FF2B5EF4-FFF2-40B4-BE49-F238E27FC236}">
                  <a16:creationId xmlns:a16="http://schemas.microsoft.com/office/drawing/2014/main" id="{400C61CB-9A56-4F12-A64D-8C4682380432}"/>
                </a:ext>
              </a:extLst>
            </p:cNvPr>
            <p:cNvSpPr/>
            <p:nvPr/>
          </p:nvSpPr>
          <p:spPr>
            <a:xfrm>
              <a:off x="7681851" y="5558417"/>
              <a:ext cx="755001" cy="35320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>
                  <a:solidFill>
                    <a:sysClr val="windowText" lastClr="000000"/>
                  </a:solidFill>
                </a:rPr>
                <a:t>contains</a:t>
              </a:r>
              <a:endParaRPr lang="ko-KR" altLang="en-US" sz="12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B864CC8C-B36F-43DA-90F7-AFA08E164B0F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4472863"/>
              <a:ext cx="54000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C6FBCC76-069B-444D-8A9B-F6683F266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738110"/>
              <a:ext cx="540000" cy="0"/>
            </a:xfrm>
            <a:prstGeom prst="straightConnector1">
              <a:avLst/>
            </a:prstGeom>
            <a:ln w="19050">
              <a:prstDash val="lgDashDot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6A48CCF6-0A6F-4975-8423-218B15D16FC4}"/>
                </a:ext>
              </a:extLst>
            </p:cNvPr>
            <p:cNvCxnSpPr>
              <a:cxnSpLocks/>
            </p:cNvCxnSpPr>
            <p:nvPr/>
          </p:nvCxnSpPr>
          <p:spPr>
            <a:xfrm>
              <a:off x="6974954" y="6396121"/>
              <a:ext cx="540000" cy="0"/>
            </a:xfrm>
            <a:prstGeom prst="straightConnector1">
              <a:avLst/>
            </a:prstGeom>
            <a:ln w="19050">
              <a:prstDash val="sysDot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B629BB0E-BF74-4EFB-81D4-73AD69619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4954" y="5125320"/>
              <a:ext cx="540000" cy="0"/>
            </a:xfrm>
            <a:prstGeom prst="straightConnector1">
              <a:avLst/>
            </a:prstGeom>
            <a:ln w="19050">
              <a:prstDash val="dash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D57C608-2E75-43BB-9491-6083615C81C8}"/>
              </a:ext>
            </a:extLst>
          </p:cNvPr>
          <p:cNvSpPr/>
          <p:nvPr/>
        </p:nvSpPr>
        <p:spPr>
          <a:xfrm>
            <a:off x="537692" y="6527080"/>
            <a:ext cx="4381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도면 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6.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이종 그래프 구축 단계</a:t>
            </a:r>
          </a:p>
        </p:txBody>
      </p:sp>
    </p:spTree>
    <p:extLst>
      <p:ext uri="{BB962C8B-B14F-4D97-AF65-F5344CB8AC3E}">
        <p14:creationId xmlns:p14="http://schemas.microsoft.com/office/powerpoint/2010/main" val="3120018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09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02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(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발명의 내용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해결 수단</a:t>
            </a:r>
            <a:endParaRPr kumimoji="0" lang="en-US" altLang="ko-KR" sz="2000" b="0" i="0" u="none" strike="noStrike" kern="1200" cap="none" spc="0" normalizeH="0" baseline="0" noProof="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1. 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학습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데이터를 위한 국건영 데이터 수집 </a:t>
            </a: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(Edge)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45A9BB-8F8D-4565-B3E3-9522EEB43A68}"/>
              </a:ext>
            </a:extLst>
          </p:cNvPr>
          <p:cNvGraphicFramePr>
            <a:graphicFrameLocks noGrp="1"/>
          </p:cNvGraphicFramePr>
          <p:nvPr/>
        </p:nvGraphicFramePr>
        <p:xfrm>
          <a:off x="1137073" y="1452067"/>
          <a:ext cx="467317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557726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000" kern="1200"/>
                        <a:t>Users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Foods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Edge weight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YA01220302</a:t>
                      </a: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1016502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0.146071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YA01220302</a:t>
                      </a: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1362903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0.130556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YA01220302</a:t>
                      </a: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1501504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YA01220302</a:t>
                      </a: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5025709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YA01220302</a:t>
                      </a:r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5151306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45AE814-F6EC-40F1-9C22-3E432B78FDB9}"/>
              </a:ext>
            </a:extLst>
          </p:cNvPr>
          <p:cNvGraphicFramePr>
            <a:graphicFrameLocks noGrp="1"/>
          </p:cNvGraphicFramePr>
          <p:nvPr/>
        </p:nvGraphicFramePr>
        <p:xfrm>
          <a:off x="6397837" y="1452067"/>
          <a:ext cx="467317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557726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Food1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Food2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Edge weight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110221318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13533143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5151306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5081055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50915176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8861DE0-6D17-4335-9E1C-19280EB9414C}"/>
              </a:ext>
            </a:extLst>
          </p:cNvPr>
          <p:cNvGraphicFramePr>
            <a:graphicFrameLocks noGrp="1"/>
          </p:cNvGraphicFramePr>
          <p:nvPr/>
        </p:nvGraphicFramePr>
        <p:xfrm>
          <a:off x="1137073" y="4098909"/>
          <a:ext cx="467317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557726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Foods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Ingredients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Edge weight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R101-008000501-0000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R101-010000002-0000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348.0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R106-092000046-0000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177.7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R101-010000002-0000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522.0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R106-024000001-0000</a:t>
                      </a:r>
                    </a:p>
                  </a:txBody>
                  <a:tcPr marL="76200" marR="76200" marT="38100" marB="381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41.5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C143097-E1F3-4082-9449-59773517F535}"/>
              </a:ext>
            </a:extLst>
          </p:cNvPr>
          <p:cNvGraphicFramePr>
            <a:graphicFrameLocks noGrp="1"/>
          </p:cNvGraphicFramePr>
          <p:nvPr/>
        </p:nvGraphicFramePr>
        <p:xfrm>
          <a:off x="6397837" y="4098909"/>
          <a:ext cx="4673178" cy="21183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557726">
                  <a:extLst>
                    <a:ext uri="{9D8B030D-6E8A-4147-A177-3AD203B41FA5}">
                      <a16:colId xmlns:a16="http://schemas.microsoft.com/office/drawing/2014/main" val="3652516223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239670891"/>
                    </a:ext>
                  </a:extLst>
                </a:gridCol>
                <a:gridCol w="1557726">
                  <a:extLst>
                    <a:ext uri="{9D8B030D-6E8A-4147-A177-3AD203B41FA5}">
                      <a16:colId xmlns:a16="http://schemas.microsoft.com/office/drawing/2014/main" val="3006647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Foods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Meal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Edge weight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85996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7437382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18065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101017627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0.500000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94994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101027633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0.333333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04938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101027633</a:t>
                      </a:r>
                    </a:p>
                  </a:txBody>
                  <a:tcPr marL="76200" marR="76200" marT="38100" marB="381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76200" marR="762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0.333333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558023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7CBEB1E-5378-435C-A1CE-1A982C15F2DB}"/>
              </a:ext>
            </a:extLst>
          </p:cNvPr>
          <p:cNvSpPr/>
          <p:nvPr/>
        </p:nvSpPr>
        <p:spPr>
          <a:xfrm>
            <a:off x="1137074" y="3591305"/>
            <a:ext cx="4673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*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Edge weight: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사용자 섭취 무게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실제 식품 무게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A5BC73-67EE-4A8F-8EC4-7EA94C1628A6}"/>
              </a:ext>
            </a:extLst>
          </p:cNvPr>
          <p:cNvSpPr/>
          <p:nvPr/>
        </p:nvSpPr>
        <p:spPr>
          <a:xfrm>
            <a:off x="6397838" y="3591305"/>
            <a:ext cx="4673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*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Edge weight: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두 식품이 한 끼니에 함께 섭취된 횟수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6ED782-1101-4BC5-965E-6E7E1CDF39F3}"/>
              </a:ext>
            </a:extLst>
          </p:cNvPr>
          <p:cNvSpPr/>
          <p:nvPr/>
        </p:nvSpPr>
        <p:spPr>
          <a:xfrm>
            <a:off x="1137074" y="6232431"/>
            <a:ext cx="4673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*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Edge weight: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식품 내 식재료 함유 무게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4EA8B2-438B-4C88-BA2C-5DB6C7449461}"/>
              </a:ext>
            </a:extLst>
          </p:cNvPr>
          <p:cNvSpPr/>
          <p:nvPr/>
        </p:nvSpPr>
        <p:spPr>
          <a:xfrm>
            <a:off x="6397838" y="6232431"/>
            <a:ext cx="4673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*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Edge weight: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식품이 끼니에 섭취된 비율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36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96D68A70-B328-4B59-A48D-9790C70B14DB}"/>
              </a:ext>
            </a:extLst>
          </p:cNvPr>
          <p:cNvSpPr/>
          <p:nvPr/>
        </p:nvSpPr>
        <p:spPr>
          <a:xfrm>
            <a:off x="4088154" y="2262109"/>
            <a:ext cx="2699699" cy="30575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A0F37A6-AA81-48D8-8B27-73261EDCC007}"/>
              </a:ext>
            </a:extLst>
          </p:cNvPr>
          <p:cNvGrpSpPr/>
          <p:nvPr/>
        </p:nvGrpSpPr>
        <p:grpSpPr>
          <a:xfrm>
            <a:off x="4143071" y="2834843"/>
            <a:ext cx="2296918" cy="2057893"/>
            <a:chOff x="3316778" y="2478078"/>
            <a:chExt cx="3457288" cy="3097510"/>
          </a:xfrm>
        </p:grpSpPr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5D66CCBE-F82F-41A2-8C50-3F81C416F3EB}"/>
                </a:ext>
              </a:extLst>
            </p:cNvPr>
            <p:cNvSpPr/>
            <p:nvPr/>
          </p:nvSpPr>
          <p:spPr>
            <a:xfrm>
              <a:off x="3316778" y="3299179"/>
              <a:ext cx="667908" cy="66790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U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3BAC9BF8-BF21-4FA3-A924-B1148EF9839D}"/>
                </a:ext>
              </a:extLst>
            </p:cNvPr>
            <p:cNvSpPr/>
            <p:nvPr/>
          </p:nvSpPr>
          <p:spPr>
            <a:xfrm>
              <a:off x="4726773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83C72BAE-EA7C-4B74-80F6-01603BAA1C4F}"/>
                </a:ext>
              </a:extLst>
            </p:cNvPr>
            <p:cNvSpPr/>
            <p:nvPr/>
          </p:nvSpPr>
          <p:spPr>
            <a:xfrm>
              <a:off x="5465716" y="2478078"/>
              <a:ext cx="667908" cy="66790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U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FDE90DB5-952D-4877-A71E-028A0AF02A52}"/>
                </a:ext>
              </a:extLst>
            </p:cNvPr>
            <p:cNvSpPr/>
            <p:nvPr/>
          </p:nvSpPr>
          <p:spPr>
            <a:xfrm>
              <a:off x="6106158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4029EA0A-661F-4D1B-8AE9-A4B1EF57C552}"/>
                </a:ext>
              </a:extLst>
            </p:cNvPr>
            <p:cNvCxnSpPr>
              <a:cxnSpLocks/>
              <a:stCxn id="189" idx="6"/>
              <a:endCxn id="190" idx="2"/>
            </p:cNvCxnSpPr>
            <p:nvPr/>
          </p:nvCxnSpPr>
          <p:spPr>
            <a:xfrm>
              <a:off x="3984686" y="3633133"/>
              <a:ext cx="7420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4" name="직선 화살표 연결선 193">
              <a:extLst>
                <a:ext uri="{FF2B5EF4-FFF2-40B4-BE49-F238E27FC236}">
                  <a16:creationId xmlns:a16="http://schemas.microsoft.com/office/drawing/2014/main" id="{DABCABD0-2341-475E-8CC1-E7FA6D96FDF2}"/>
                </a:ext>
              </a:extLst>
            </p:cNvPr>
            <p:cNvCxnSpPr>
              <a:cxnSpLocks/>
              <a:stCxn id="191" idx="3"/>
              <a:endCxn id="190" idx="7"/>
            </p:cNvCxnSpPr>
            <p:nvPr/>
          </p:nvCxnSpPr>
          <p:spPr>
            <a:xfrm flipH="1">
              <a:off x="5296868" y="3048171"/>
              <a:ext cx="266662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EACA3D11-8EA8-4922-8CFB-CE5B29538CE0}"/>
                </a:ext>
              </a:extLst>
            </p:cNvPr>
            <p:cNvCxnSpPr>
              <a:cxnSpLocks/>
              <a:stCxn id="190" idx="6"/>
              <a:endCxn id="192" idx="2"/>
            </p:cNvCxnSpPr>
            <p:nvPr/>
          </p:nvCxnSpPr>
          <p:spPr>
            <a:xfrm>
              <a:off x="5394681" y="3633133"/>
              <a:ext cx="7114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97" name="타원 196">
              <a:extLst>
                <a:ext uri="{FF2B5EF4-FFF2-40B4-BE49-F238E27FC236}">
                  <a16:creationId xmlns:a16="http://schemas.microsoft.com/office/drawing/2014/main" id="{C9B6EE88-D2BB-446F-A6F9-AF0F0B4C92B7}"/>
                </a:ext>
              </a:extLst>
            </p:cNvPr>
            <p:cNvSpPr/>
            <p:nvPr/>
          </p:nvSpPr>
          <p:spPr>
            <a:xfrm>
              <a:off x="3968093" y="2478078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CCB8FF2-1363-476A-91CC-602CAB3C390E}"/>
                </a:ext>
              </a:extLst>
            </p:cNvPr>
            <p:cNvSpPr/>
            <p:nvPr/>
          </p:nvSpPr>
          <p:spPr>
            <a:xfrm>
              <a:off x="3968093" y="4132090"/>
              <a:ext cx="667908" cy="66790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M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535A35F8-509F-4A3B-B9EB-2DFB76AA9A82}"/>
                </a:ext>
              </a:extLst>
            </p:cNvPr>
            <p:cNvSpPr/>
            <p:nvPr/>
          </p:nvSpPr>
          <p:spPr>
            <a:xfrm>
              <a:off x="5465716" y="4132090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208" name="직선 화살표 연결선 207">
              <a:extLst>
                <a:ext uri="{FF2B5EF4-FFF2-40B4-BE49-F238E27FC236}">
                  <a16:creationId xmlns:a16="http://schemas.microsoft.com/office/drawing/2014/main" id="{E9372498-0CED-4036-951B-211CCCF69467}"/>
                </a:ext>
              </a:extLst>
            </p:cNvPr>
            <p:cNvCxnSpPr>
              <a:cxnSpLocks/>
              <a:stCxn id="190" idx="1"/>
              <a:endCxn id="197" idx="5"/>
            </p:cNvCxnSpPr>
            <p:nvPr/>
          </p:nvCxnSpPr>
          <p:spPr>
            <a:xfrm flipH="1" flipV="1">
              <a:off x="4538188" y="3048171"/>
              <a:ext cx="286398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DC1FA376-F8D0-401F-8053-1FC605D9ACC7}"/>
                </a:ext>
              </a:extLst>
            </p:cNvPr>
            <p:cNvCxnSpPr>
              <a:cxnSpLocks/>
              <a:stCxn id="190" idx="3"/>
              <a:endCxn id="198" idx="7"/>
            </p:cNvCxnSpPr>
            <p:nvPr/>
          </p:nvCxnSpPr>
          <p:spPr>
            <a:xfrm flipH="1">
              <a:off x="4538188" y="3869272"/>
              <a:ext cx="286398" cy="36063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C64A32AF-6026-4A01-A5D0-287FE1908CB7}"/>
                </a:ext>
              </a:extLst>
            </p:cNvPr>
            <p:cNvCxnSpPr>
              <a:cxnSpLocks/>
              <a:stCxn id="192" idx="3"/>
              <a:endCxn id="203" idx="7"/>
            </p:cNvCxnSpPr>
            <p:nvPr/>
          </p:nvCxnSpPr>
          <p:spPr>
            <a:xfrm flipH="1">
              <a:off x="6035812" y="3869272"/>
              <a:ext cx="168159" cy="360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B9F952E0-FF34-4787-854E-85AF03A75E0B}"/>
                </a:ext>
              </a:extLst>
            </p:cNvPr>
            <p:cNvSpPr/>
            <p:nvPr/>
          </p:nvSpPr>
          <p:spPr>
            <a:xfrm>
              <a:off x="4719986" y="4907682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67676E4A-66F2-48DE-BC95-ECE9E0F23F90}"/>
                </a:ext>
              </a:extLst>
            </p:cNvPr>
            <p:cNvSpPr/>
            <p:nvPr/>
          </p:nvSpPr>
          <p:spPr>
            <a:xfrm>
              <a:off x="6062705" y="4907682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AB5ABFE7-771A-4416-A24D-92AC6E55A160}"/>
                </a:ext>
              </a:extLst>
            </p:cNvPr>
            <p:cNvCxnSpPr>
              <a:cxnSpLocks/>
              <a:stCxn id="213" idx="2"/>
              <a:endCxn id="212" idx="6"/>
            </p:cNvCxnSpPr>
            <p:nvPr/>
          </p:nvCxnSpPr>
          <p:spPr>
            <a:xfrm flipH="1">
              <a:off x="5387894" y="5241636"/>
              <a:ext cx="6748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8626E024-A50D-439A-92BD-9F879EF552FB}"/>
                </a:ext>
              </a:extLst>
            </p:cNvPr>
            <p:cNvCxnSpPr>
              <a:cxnSpLocks/>
              <a:stCxn id="213" idx="1"/>
              <a:endCxn id="203" idx="5"/>
            </p:cNvCxnSpPr>
            <p:nvPr/>
          </p:nvCxnSpPr>
          <p:spPr>
            <a:xfrm flipH="1" flipV="1">
              <a:off x="6035812" y="4702183"/>
              <a:ext cx="124706" cy="3033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AA27691E-D315-4357-BEF5-28BA918BB9D2}"/>
                </a:ext>
              </a:extLst>
            </p:cNvPr>
            <p:cNvCxnSpPr>
              <a:cxnSpLocks/>
              <a:stCxn id="190" idx="4"/>
              <a:endCxn id="212" idx="0"/>
            </p:cNvCxnSpPr>
            <p:nvPr/>
          </p:nvCxnSpPr>
          <p:spPr>
            <a:xfrm flipH="1">
              <a:off x="5053940" y="3967085"/>
              <a:ext cx="6787" cy="940596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CF71FBAE-D5AF-4A03-B599-9EEA7B1C706A}"/>
              </a:ext>
            </a:extLst>
          </p:cNvPr>
          <p:cNvGrpSpPr/>
          <p:nvPr/>
        </p:nvGrpSpPr>
        <p:grpSpPr>
          <a:xfrm>
            <a:off x="7274817" y="759535"/>
            <a:ext cx="4118295" cy="2838643"/>
            <a:chOff x="3604249" y="2233340"/>
            <a:chExt cx="2699699" cy="2838643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E65C6FEB-DC57-4457-9EF3-CF71F49217D6}"/>
                </a:ext>
              </a:extLst>
            </p:cNvPr>
            <p:cNvSpPr/>
            <p:nvPr/>
          </p:nvSpPr>
          <p:spPr>
            <a:xfrm>
              <a:off x="3604249" y="2410367"/>
              <a:ext cx="2699699" cy="2661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56" name="처리 7">
              <a:extLst>
                <a:ext uri="{FF2B5EF4-FFF2-40B4-BE49-F238E27FC236}">
                  <a16:creationId xmlns:a16="http://schemas.microsoft.com/office/drawing/2014/main" id="{C4ED7460-4A79-4A41-ABC2-DBD898274EF3}"/>
                </a:ext>
              </a:extLst>
            </p:cNvPr>
            <p:cNvSpPr/>
            <p:nvPr/>
          </p:nvSpPr>
          <p:spPr>
            <a:xfrm>
              <a:off x="4232671" y="2233340"/>
              <a:ext cx="1442854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Preference Decoder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60AE419-0B95-4CE2-B60F-665D8DC6D9AF}"/>
              </a:ext>
            </a:extLst>
          </p:cNvPr>
          <p:cNvGrpSpPr/>
          <p:nvPr/>
        </p:nvGrpSpPr>
        <p:grpSpPr>
          <a:xfrm>
            <a:off x="889424" y="2108863"/>
            <a:ext cx="2699699" cy="3210771"/>
            <a:chOff x="400050" y="2294679"/>
            <a:chExt cx="2699699" cy="3210771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9B3EEF53-11A4-495E-9C55-1F23DBF233FA}"/>
                </a:ext>
              </a:extLst>
            </p:cNvPr>
            <p:cNvSpPr/>
            <p:nvPr/>
          </p:nvSpPr>
          <p:spPr>
            <a:xfrm>
              <a:off x="400050" y="2447925"/>
              <a:ext cx="2699699" cy="3057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4" name="처리 7">
              <a:extLst>
                <a:ext uri="{FF2B5EF4-FFF2-40B4-BE49-F238E27FC236}">
                  <a16:creationId xmlns:a16="http://schemas.microsoft.com/office/drawing/2014/main" id="{5ACDB44D-5C5F-4C05-87AE-152A82CE0512}"/>
                </a:ext>
              </a:extLst>
            </p:cNvPr>
            <p:cNvSpPr/>
            <p:nvPr/>
          </p:nvSpPr>
          <p:spPr>
            <a:xfrm>
              <a:off x="978511" y="2294679"/>
              <a:ext cx="1542776" cy="322997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Input Graph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809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02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(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발명의 내용</a:t>
            </a:r>
            <a:r>
              <a:rPr kumimoji="0" lang="en-US" altLang="ko-KR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해결 수단</a:t>
            </a:r>
            <a:endParaRPr kumimoji="0" lang="en-US" altLang="ko-KR" sz="2000" b="0" i="0" u="none" strike="noStrike" kern="1200" cap="none" spc="0" normalizeH="0" baseline="0" noProof="0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2" name="처리 7">
            <a:extLst>
              <a:ext uri="{FF2B5EF4-FFF2-40B4-BE49-F238E27FC236}">
                <a16:creationId xmlns:a16="http://schemas.microsoft.com/office/drawing/2014/main" id="{287D4B78-06DD-4D2D-866D-74724C3761F7}"/>
              </a:ext>
            </a:extLst>
          </p:cNvPr>
          <p:cNvSpPr/>
          <p:nvPr/>
        </p:nvSpPr>
        <p:spPr>
          <a:xfrm>
            <a:off x="203624" y="759535"/>
            <a:ext cx="4469975" cy="400110"/>
          </a:xfrm>
          <a:prstGeom prst="flowChart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3. GNN </a:t>
            </a:r>
            <a:r>
              <a: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모델 구축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79F939D-B91E-4CD8-831C-3217184878A4}"/>
              </a:ext>
            </a:extLst>
          </p:cNvPr>
          <p:cNvGrpSpPr/>
          <p:nvPr/>
        </p:nvGrpSpPr>
        <p:grpSpPr>
          <a:xfrm>
            <a:off x="940524" y="2834843"/>
            <a:ext cx="2296918" cy="2057893"/>
            <a:chOff x="3316778" y="2478078"/>
            <a:chExt cx="3457288" cy="309751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B7C91F4A-C1B2-45E6-BF30-BA8B01E57C74}"/>
                </a:ext>
              </a:extLst>
            </p:cNvPr>
            <p:cNvSpPr/>
            <p:nvPr/>
          </p:nvSpPr>
          <p:spPr>
            <a:xfrm>
              <a:off x="3316778" y="3299179"/>
              <a:ext cx="667908" cy="66790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U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A139C2A-82E9-453C-92FF-F4AB23381CB4}"/>
                </a:ext>
              </a:extLst>
            </p:cNvPr>
            <p:cNvSpPr/>
            <p:nvPr/>
          </p:nvSpPr>
          <p:spPr>
            <a:xfrm>
              <a:off x="4726773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6F57128-D910-42A4-B855-16C581C45E43}"/>
                </a:ext>
              </a:extLst>
            </p:cNvPr>
            <p:cNvSpPr/>
            <p:nvPr/>
          </p:nvSpPr>
          <p:spPr>
            <a:xfrm>
              <a:off x="5465716" y="2478078"/>
              <a:ext cx="667908" cy="66790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U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8FCEEFB-7D98-45C8-86A0-EDFC390E93C6}"/>
                </a:ext>
              </a:extLst>
            </p:cNvPr>
            <p:cNvSpPr/>
            <p:nvPr/>
          </p:nvSpPr>
          <p:spPr>
            <a:xfrm>
              <a:off x="6106158" y="3299179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8FD28D3-119A-4356-BED2-1C03828B1C83}"/>
                </a:ext>
              </a:extLst>
            </p:cNvPr>
            <p:cNvCxnSpPr>
              <a:cxnSpLocks/>
              <a:stCxn id="2" idx="6"/>
              <a:endCxn id="16" idx="2"/>
            </p:cNvCxnSpPr>
            <p:nvPr/>
          </p:nvCxnSpPr>
          <p:spPr>
            <a:xfrm>
              <a:off x="3984686" y="3633133"/>
              <a:ext cx="7420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EF7502C4-2698-465E-94AF-7915CE345949}"/>
                </a:ext>
              </a:extLst>
            </p:cNvPr>
            <p:cNvCxnSpPr>
              <a:cxnSpLocks/>
              <a:stCxn id="14" idx="3"/>
              <a:endCxn id="16" idx="7"/>
            </p:cNvCxnSpPr>
            <p:nvPr/>
          </p:nvCxnSpPr>
          <p:spPr>
            <a:xfrm flipH="1">
              <a:off x="5296868" y="3048171"/>
              <a:ext cx="266662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58460782-4132-410E-B747-C23BF1A3739C}"/>
                </a:ext>
              </a:extLst>
            </p:cNvPr>
            <p:cNvCxnSpPr>
              <a:cxnSpLocks/>
              <a:stCxn id="16" idx="6"/>
              <a:endCxn id="21" idx="2"/>
            </p:cNvCxnSpPr>
            <p:nvPr/>
          </p:nvCxnSpPr>
          <p:spPr>
            <a:xfrm>
              <a:off x="5394681" y="3633133"/>
              <a:ext cx="7114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2E9990F-D959-4342-82DE-ADE6E7A29E1D}"/>
                </a:ext>
              </a:extLst>
            </p:cNvPr>
            <p:cNvSpPr/>
            <p:nvPr/>
          </p:nvSpPr>
          <p:spPr>
            <a:xfrm>
              <a:off x="3968093" y="2478078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2D2F274-4BE2-4CDA-8904-A7C045AF0BF9}"/>
                </a:ext>
              </a:extLst>
            </p:cNvPr>
            <p:cNvSpPr/>
            <p:nvPr/>
          </p:nvSpPr>
          <p:spPr>
            <a:xfrm>
              <a:off x="3968093" y="4132090"/>
              <a:ext cx="667908" cy="66790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M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ED9093C-53D8-4677-8A52-9AD63412D779}"/>
                </a:ext>
              </a:extLst>
            </p:cNvPr>
            <p:cNvSpPr/>
            <p:nvPr/>
          </p:nvSpPr>
          <p:spPr>
            <a:xfrm>
              <a:off x="5465716" y="4132090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1C0CA986-FA9A-4D3C-A672-61A180F6AB2B}"/>
                </a:ext>
              </a:extLst>
            </p:cNvPr>
            <p:cNvCxnSpPr>
              <a:cxnSpLocks/>
              <a:stCxn id="16" idx="1"/>
              <a:endCxn id="44" idx="5"/>
            </p:cNvCxnSpPr>
            <p:nvPr/>
          </p:nvCxnSpPr>
          <p:spPr>
            <a:xfrm flipH="1" flipV="1">
              <a:off x="4538188" y="3048171"/>
              <a:ext cx="286398" cy="348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4D3F6F44-96D3-4A39-819A-7BDC9E8B8492}"/>
                </a:ext>
              </a:extLst>
            </p:cNvPr>
            <p:cNvCxnSpPr>
              <a:cxnSpLocks/>
              <a:stCxn id="16" idx="3"/>
              <a:endCxn id="48" idx="7"/>
            </p:cNvCxnSpPr>
            <p:nvPr/>
          </p:nvCxnSpPr>
          <p:spPr>
            <a:xfrm flipH="1">
              <a:off x="4538188" y="3869272"/>
              <a:ext cx="286398" cy="36063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D23631B1-9EE6-40F2-860C-2C8D6081078E}"/>
                </a:ext>
              </a:extLst>
            </p:cNvPr>
            <p:cNvCxnSpPr>
              <a:cxnSpLocks/>
              <a:stCxn id="21" idx="3"/>
              <a:endCxn id="52" idx="7"/>
            </p:cNvCxnSpPr>
            <p:nvPr/>
          </p:nvCxnSpPr>
          <p:spPr>
            <a:xfrm flipH="1">
              <a:off x="6035812" y="3869272"/>
              <a:ext cx="168159" cy="360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B24B4772-D966-4677-8F91-114C5EBB6653}"/>
                </a:ext>
              </a:extLst>
            </p:cNvPr>
            <p:cNvSpPr/>
            <p:nvPr/>
          </p:nvSpPr>
          <p:spPr>
            <a:xfrm>
              <a:off x="4719986" y="4907682"/>
              <a:ext cx="667908" cy="667906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I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2776C6B2-9C7A-40B7-BD95-3D91870FBFFC}"/>
                </a:ext>
              </a:extLst>
            </p:cNvPr>
            <p:cNvSpPr/>
            <p:nvPr/>
          </p:nvSpPr>
          <p:spPr>
            <a:xfrm>
              <a:off x="6062705" y="4907682"/>
              <a:ext cx="667908" cy="66790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F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E6A4C184-FFFA-457C-A17E-AD3C09FF1BC7}"/>
                </a:ext>
              </a:extLst>
            </p:cNvPr>
            <p:cNvCxnSpPr>
              <a:cxnSpLocks/>
              <a:stCxn id="165" idx="2"/>
              <a:endCxn id="75" idx="6"/>
            </p:cNvCxnSpPr>
            <p:nvPr/>
          </p:nvCxnSpPr>
          <p:spPr>
            <a:xfrm flipH="1">
              <a:off x="5387894" y="5241636"/>
              <a:ext cx="6748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7" name="직선 화살표 연결선 156">
              <a:extLst>
                <a:ext uri="{FF2B5EF4-FFF2-40B4-BE49-F238E27FC236}">
                  <a16:creationId xmlns:a16="http://schemas.microsoft.com/office/drawing/2014/main" id="{A0292BDD-BFA5-4EF3-9E16-677F993AAABC}"/>
                </a:ext>
              </a:extLst>
            </p:cNvPr>
            <p:cNvCxnSpPr>
              <a:cxnSpLocks/>
              <a:stCxn id="165" idx="1"/>
              <a:endCxn id="52" idx="5"/>
            </p:cNvCxnSpPr>
            <p:nvPr/>
          </p:nvCxnSpPr>
          <p:spPr>
            <a:xfrm flipH="1" flipV="1">
              <a:off x="6035812" y="4702183"/>
              <a:ext cx="124706" cy="3033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7" name="직선 화살표 연결선 166">
              <a:extLst>
                <a:ext uri="{FF2B5EF4-FFF2-40B4-BE49-F238E27FC236}">
                  <a16:creationId xmlns:a16="http://schemas.microsoft.com/office/drawing/2014/main" id="{8B1E98AD-8C4B-4279-A5CD-F1AA82A0CE1B}"/>
                </a:ext>
              </a:extLst>
            </p:cNvPr>
            <p:cNvCxnSpPr>
              <a:cxnSpLocks/>
              <a:stCxn id="16" idx="4"/>
              <a:endCxn id="75" idx="0"/>
            </p:cNvCxnSpPr>
            <p:nvPr/>
          </p:nvCxnSpPr>
          <p:spPr>
            <a:xfrm flipH="1">
              <a:off x="5053940" y="3967085"/>
              <a:ext cx="6787" cy="940596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E6942C2D-2951-4699-83D8-A36C17DCC32C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044B741C-A8BE-4EA1-982B-E8F29C1E87BB}"/>
              </a:ext>
            </a:extLst>
          </p:cNvPr>
          <p:cNvGraphicFramePr>
            <a:graphicFrameLocks noGrp="1"/>
          </p:cNvGraphicFramePr>
          <p:nvPr/>
        </p:nvGraphicFramePr>
        <p:xfrm>
          <a:off x="108528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1CD4DB37-611A-493D-B930-CD28D38697C4}"/>
              </a:ext>
            </a:extLst>
          </p:cNvPr>
          <p:cNvGraphicFramePr>
            <a:graphicFrameLocks noGrp="1"/>
          </p:cNvGraphicFramePr>
          <p:nvPr/>
        </p:nvGraphicFramePr>
        <p:xfrm>
          <a:off x="2449614" y="319904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E3B8019-F814-457A-A845-A13BAD9C9EF6}"/>
              </a:ext>
            </a:extLst>
          </p:cNvPr>
          <p:cNvGraphicFramePr>
            <a:graphicFrameLocks noGrp="1"/>
          </p:cNvGraphicFramePr>
          <p:nvPr/>
        </p:nvGraphicFramePr>
        <p:xfrm>
          <a:off x="51885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0815E8CC-0486-4C96-AD3A-91731912B380}"/>
              </a:ext>
            </a:extLst>
          </p:cNvPr>
          <p:cNvGraphicFramePr>
            <a:graphicFrameLocks noGrp="1"/>
          </p:cNvGraphicFramePr>
          <p:nvPr/>
        </p:nvGraphicFramePr>
        <p:xfrm>
          <a:off x="4235323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E74AAF66-CF09-4E9D-BF65-CABB423A1DD9}"/>
              </a:ext>
            </a:extLst>
          </p:cNvPr>
          <p:cNvGraphicFramePr>
            <a:graphicFrameLocks noGrp="1"/>
          </p:cNvGraphicFramePr>
          <p:nvPr/>
        </p:nvGraphicFramePr>
        <p:xfrm>
          <a:off x="5648944" y="3206175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3110370E-FCCA-431E-B1F5-E88348FEDCE7}"/>
              </a:ext>
            </a:extLst>
          </p:cNvPr>
          <p:cNvSpPr/>
          <p:nvPr/>
        </p:nvSpPr>
        <p:spPr>
          <a:xfrm>
            <a:off x="3705598" y="3347157"/>
            <a:ext cx="277355" cy="7750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FBA67D1C-DFA6-4B7D-A96A-24BE926EC79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2750878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E0D1588F-CB9F-4175-A28E-4C4787E7D45D}"/>
              </a:ext>
            </a:extLst>
          </p:cNvPr>
          <p:cNvGraphicFramePr>
            <a:graphicFrameLocks noGrp="1"/>
          </p:cNvGraphicFramePr>
          <p:nvPr/>
        </p:nvGraphicFramePr>
        <p:xfrm>
          <a:off x="7381312" y="1652916"/>
          <a:ext cx="1019575" cy="2229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203915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6D95FE4D-038F-4DCD-8A46-85F1908C23EE}"/>
              </a:ext>
            </a:extLst>
          </p:cNvPr>
          <p:cNvCxnSpPr>
            <a:cxnSpLocks/>
            <a:stCxn id="191" idx="0"/>
            <a:endCxn id="134" idx="1"/>
          </p:cNvCxnSpPr>
          <p:nvPr/>
        </p:nvCxnSpPr>
        <p:spPr>
          <a:xfrm rot="5400000" flipH="1" flipV="1">
            <a:off x="6051743" y="1505274"/>
            <a:ext cx="1070457" cy="1588682"/>
          </a:xfrm>
          <a:prstGeom prst="curvedConnector2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97345C58-5CC5-488C-81AD-C6DDCB24EB32}"/>
              </a:ext>
            </a:extLst>
          </p:cNvPr>
          <p:cNvCxnSpPr>
            <a:cxnSpLocks/>
            <a:stCxn id="192" idx="6"/>
            <a:endCxn id="133" idx="1"/>
          </p:cNvCxnSpPr>
          <p:nvPr/>
        </p:nvCxnSpPr>
        <p:spPr>
          <a:xfrm flipV="1">
            <a:off x="6439989" y="2862348"/>
            <a:ext cx="941323" cy="739879"/>
          </a:xfrm>
          <a:prstGeom prst="curved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49D8CFA3-FE3E-448D-8358-DA9C6CA0295B}"/>
              </a:ext>
            </a:extLst>
          </p:cNvPr>
          <p:cNvGraphicFramePr>
            <a:graphicFrameLocks noGrp="1"/>
          </p:cNvGraphicFramePr>
          <p:nvPr/>
        </p:nvGraphicFramePr>
        <p:xfrm>
          <a:off x="8737887" y="1204151"/>
          <a:ext cx="203915" cy="22294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03915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</a:tblGrid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7878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95675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83151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44479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24378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70222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243140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89126"/>
                  </a:ext>
                </a:extLst>
              </a:tr>
              <a:tr h="22294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934528"/>
                  </a:ext>
                </a:extLst>
              </a:tr>
            </a:tbl>
          </a:graphicData>
        </a:graphic>
      </p:graphicFrame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4429FE0-31EB-4999-BC2B-53888E8DC915}"/>
              </a:ext>
            </a:extLst>
          </p:cNvPr>
          <p:cNvCxnSpPr/>
          <p:nvPr/>
        </p:nvCxnSpPr>
        <p:spPr>
          <a:xfrm>
            <a:off x="8451685" y="1759745"/>
            <a:ext cx="252000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2951261F-E536-4EB1-BB1A-A3100CE21FAF}"/>
              </a:ext>
            </a:extLst>
          </p:cNvPr>
          <p:cNvCxnSpPr/>
          <p:nvPr/>
        </p:nvCxnSpPr>
        <p:spPr>
          <a:xfrm>
            <a:off x="8451685" y="2856270"/>
            <a:ext cx="252000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화살표: 오른쪽 160">
            <a:extLst>
              <a:ext uri="{FF2B5EF4-FFF2-40B4-BE49-F238E27FC236}">
                <a16:creationId xmlns:a16="http://schemas.microsoft.com/office/drawing/2014/main" id="{5838826E-E467-4736-A3B9-91946CF7D294}"/>
              </a:ext>
            </a:extLst>
          </p:cNvPr>
          <p:cNvSpPr/>
          <p:nvPr/>
        </p:nvSpPr>
        <p:spPr>
          <a:xfrm rot="19658591">
            <a:off x="6825877" y="2181350"/>
            <a:ext cx="392030" cy="38337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CCAC10AD-69E0-48C4-B9B7-21593DA8A610}"/>
              </a:ext>
            </a:extLst>
          </p:cNvPr>
          <p:cNvGraphicFramePr>
            <a:graphicFrameLocks noGrp="1"/>
          </p:cNvGraphicFramePr>
          <p:nvPr/>
        </p:nvGraphicFramePr>
        <p:xfrm>
          <a:off x="2896158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32306C4E-FFC3-42F1-9354-6381AF020DD9}"/>
              </a:ext>
            </a:extLst>
          </p:cNvPr>
          <p:cNvGraphicFramePr>
            <a:graphicFrameLocks noGrp="1"/>
          </p:cNvGraphicFramePr>
          <p:nvPr/>
        </p:nvGraphicFramePr>
        <p:xfrm>
          <a:off x="1974252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181" name="자유형: 도형 180">
            <a:extLst>
              <a:ext uri="{FF2B5EF4-FFF2-40B4-BE49-F238E27FC236}">
                <a16:creationId xmlns:a16="http://schemas.microsoft.com/office/drawing/2014/main" id="{39851400-9EA7-46D2-BFED-662B6CD9686E}"/>
              </a:ext>
            </a:extLst>
          </p:cNvPr>
          <p:cNvSpPr/>
          <p:nvPr/>
        </p:nvSpPr>
        <p:spPr>
          <a:xfrm>
            <a:off x="5055821" y="3241622"/>
            <a:ext cx="111128" cy="152697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2" name="자유형: 도형 181">
            <a:extLst>
              <a:ext uri="{FF2B5EF4-FFF2-40B4-BE49-F238E27FC236}">
                <a16:creationId xmlns:a16="http://schemas.microsoft.com/office/drawing/2014/main" id="{827C3704-860E-4D00-A435-E44B1F0251EC}"/>
              </a:ext>
            </a:extLst>
          </p:cNvPr>
          <p:cNvSpPr/>
          <p:nvPr/>
        </p:nvSpPr>
        <p:spPr>
          <a:xfrm rot="15310652">
            <a:off x="5444264" y="3175886"/>
            <a:ext cx="124445" cy="212084"/>
          </a:xfrm>
          <a:custGeom>
            <a:avLst/>
            <a:gdLst>
              <a:gd name="connsiteX0" fmla="*/ 0 w 648848"/>
              <a:gd name="connsiteY0" fmla="*/ 0 h 895350"/>
              <a:gd name="connsiteX1" fmla="*/ 9525 w 648848"/>
              <a:gd name="connsiteY1" fmla="*/ 66675 h 895350"/>
              <a:gd name="connsiteX2" fmla="*/ 28575 w 648848"/>
              <a:gd name="connsiteY2" fmla="*/ 133350 h 895350"/>
              <a:gd name="connsiteX3" fmla="*/ 38100 w 648848"/>
              <a:gd name="connsiteY3" fmla="*/ 209550 h 895350"/>
              <a:gd name="connsiteX4" fmla="*/ 209550 w 648848"/>
              <a:gd name="connsiteY4" fmla="*/ 247650 h 895350"/>
              <a:gd name="connsiteX5" fmla="*/ 219075 w 648848"/>
              <a:gd name="connsiteY5" fmla="*/ 390525 h 895350"/>
              <a:gd name="connsiteX6" fmla="*/ 247650 w 648848"/>
              <a:gd name="connsiteY6" fmla="*/ 419100 h 895350"/>
              <a:gd name="connsiteX7" fmla="*/ 276225 w 648848"/>
              <a:gd name="connsiteY7" fmla="*/ 457200 h 895350"/>
              <a:gd name="connsiteX8" fmla="*/ 295275 w 648848"/>
              <a:gd name="connsiteY8" fmla="*/ 485775 h 895350"/>
              <a:gd name="connsiteX9" fmla="*/ 361950 w 648848"/>
              <a:gd name="connsiteY9" fmla="*/ 523875 h 895350"/>
              <a:gd name="connsiteX10" fmla="*/ 419100 w 648848"/>
              <a:gd name="connsiteY10" fmla="*/ 552450 h 895350"/>
              <a:gd name="connsiteX11" fmla="*/ 428625 w 648848"/>
              <a:gd name="connsiteY11" fmla="*/ 581025 h 895350"/>
              <a:gd name="connsiteX12" fmla="*/ 504825 w 648848"/>
              <a:gd name="connsiteY12" fmla="*/ 609600 h 895350"/>
              <a:gd name="connsiteX13" fmla="*/ 514350 w 648848"/>
              <a:gd name="connsiteY13" fmla="*/ 638175 h 895350"/>
              <a:gd name="connsiteX14" fmla="*/ 523875 w 648848"/>
              <a:gd name="connsiteY14" fmla="*/ 762000 h 895350"/>
              <a:gd name="connsiteX15" fmla="*/ 581025 w 648848"/>
              <a:gd name="connsiteY15" fmla="*/ 771525 h 895350"/>
              <a:gd name="connsiteX16" fmla="*/ 609600 w 648848"/>
              <a:gd name="connsiteY16" fmla="*/ 781050 h 895350"/>
              <a:gd name="connsiteX17" fmla="*/ 638175 w 648848"/>
              <a:gd name="connsiteY17" fmla="*/ 809625 h 895350"/>
              <a:gd name="connsiteX18" fmla="*/ 647700 w 648848"/>
              <a:gd name="connsiteY18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8848" h="895350">
                <a:moveTo>
                  <a:pt x="0" y="0"/>
                </a:moveTo>
                <a:cubicBezTo>
                  <a:pt x="3175" y="22225"/>
                  <a:pt x="5509" y="44586"/>
                  <a:pt x="9525" y="66675"/>
                </a:cubicBezTo>
                <a:cubicBezTo>
                  <a:pt x="14309" y="92987"/>
                  <a:pt x="20414" y="108867"/>
                  <a:pt x="28575" y="133350"/>
                </a:cubicBezTo>
                <a:cubicBezTo>
                  <a:pt x="31750" y="158750"/>
                  <a:pt x="33521" y="184365"/>
                  <a:pt x="38100" y="209550"/>
                </a:cubicBezTo>
                <a:cubicBezTo>
                  <a:pt x="52491" y="288699"/>
                  <a:pt x="103474" y="241410"/>
                  <a:pt x="209550" y="247650"/>
                </a:cubicBezTo>
                <a:cubicBezTo>
                  <a:pt x="212725" y="295275"/>
                  <a:pt x="208721" y="343931"/>
                  <a:pt x="219075" y="390525"/>
                </a:cubicBezTo>
                <a:cubicBezTo>
                  <a:pt x="221997" y="403675"/>
                  <a:pt x="238884" y="408873"/>
                  <a:pt x="247650" y="419100"/>
                </a:cubicBezTo>
                <a:cubicBezTo>
                  <a:pt x="257981" y="431153"/>
                  <a:pt x="266998" y="444282"/>
                  <a:pt x="276225" y="457200"/>
                </a:cubicBezTo>
                <a:cubicBezTo>
                  <a:pt x="282879" y="466515"/>
                  <a:pt x="287180" y="477680"/>
                  <a:pt x="295275" y="485775"/>
                </a:cubicBezTo>
                <a:cubicBezTo>
                  <a:pt x="310746" y="501246"/>
                  <a:pt x="344519" y="513914"/>
                  <a:pt x="361950" y="523875"/>
                </a:cubicBezTo>
                <a:cubicBezTo>
                  <a:pt x="413651" y="553418"/>
                  <a:pt x="366709" y="534986"/>
                  <a:pt x="419100" y="552450"/>
                </a:cubicBezTo>
                <a:cubicBezTo>
                  <a:pt x="422275" y="561975"/>
                  <a:pt x="422353" y="573185"/>
                  <a:pt x="428625" y="581025"/>
                </a:cubicBezTo>
                <a:cubicBezTo>
                  <a:pt x="447312" y="604384"/>
                  <a:pt x="479009" y="604437"/>
                  <a:pt x="504825" y="609600"/>
                </a:cubicBezTo>
                <a:cubicBezTo>
                  <a:pt x="508000" y="619125"/>
                  <a:pt x="513105" y="628212"/>
                  <a:pt x="514350" y="638175"/>
                </a:cubicBezTo>
                <a:cubicBezTo>
                  <a:pt x="519485" y="679252"/>
                  <a:pt x="505362" y="724973"/>
                  <a:pt x="523875" y="762000"/>
                </a:cubicBezTo>
                <a:cubicBezTo>
                  <a:pt x="532512" y="779274"/>
                  <a:pt x="562172" y="767335"/>
                  <a:pt x="581025" y="771525"/>
                </a:cubicBezTo>
                <a:cubicBezTo>
                  <a:pt x="590826" y="773703"/>
                  <a:pt x="600075" y="777875"/>
                  <a:pt x="609600" y="781050"/>
                </a:cubicBezTo>
                <a:cubicBezTo>
                  <a:pt x="619125" y="790575"/>
                  <a:pt x="630703" y="798417"/>
                  <a:pt x="638175" y="809625"/>
                </a:cubicBezTo>
                <a:cubicBezTo>
                  <a:pt x="653724" y="832949"/>
                  <a:pt x="647700" y="872413"/>
                  <a:pt x="647700" y="8953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3" name="자유형: 도형 182">
            <a:extLst>
              <a:ext uri="{FF2B5EF4-FFF2-40B4-BE49-F238E27FC236}">
                <a16:creationId xmlns:a16="http://schemas.microsoft.com/office/drawing/2014/main" id="{416B0D3A-FE26-484C-9C24-3B2C8C95D676}"/>
              </a:ext>
            </a:extLst>
          </p:cNvPr>
          <p:cNvSpPr/>
          <p:nvPr/>
        </p:nvSpPr>
        <p:spPr>
          <a:xfrm>
            <a:off x="4631856" y="3530916"/>
            <a:ext cx="341915" cy="45719"/>
          </a:xfrm>
          <a:custGeom>
            <a:avLst/>
            <a:gdLst>
              <a:gd name="connsiteX0" fmla="*/ 0 w 812800"/>
              <a:gd name="connsiteY0" fmla="*/ 63500 h 63500"/>
              <a:gd name="connsiteX1" fmla="*/ 15875 w 812800"/>
              <a:gd name="connsiteY1" fmla="*/ 57150 h 63500"/>
              <a:gd name="connsiteX2" fmla="*/ 38100 w 812800"/>
              <a:gd name="connsiteY2" fmla="*/ 50800 h 63500"/>
              <a:gd name="connsiteX3" fmla="*/ 47625 w 812800"/>
              <a:gd name="connsiteY3" fmla="*/ 44450 h 63500"/>
              <a:gd name="connsiteX4" fmla="*/ 79375 w 812800"/>
              <a:gd name="connsiteY4" fmla="*/ 38100 h 63500"/>
              <a:gd name="connsiteX5" fmla="*/ 92075 w 812800"/>
              <a:gd name="connsiteY5" fmla="*/ 31750 h 63500"/>
              <a:gd name="connsiteX6" fmla="*/ 101600 w 812800"/>
              <a:gd name="connsiteY6" fmla="*/ 28575 h 63500"/>
              <a:gd name="connsiteX7" fmla="*/ 123825 w 812800"/>
              <a:gd name="connsiteY7" fmla="*/ 31750 h 63500"/>
              <a:gd name="connsiteX8" fmla="*/ 133350 w 812800"/>
              <a:gd name="connsiteY8" fmla="*/ 38100 h 63500"/>
              <a:gd name="connsiteX9" fmla="*/ 228600 w 812800"/>
              <a:gd name="connsiteY9" fmla="*/ 34925 h 63500"/>
              <a:gd name="connsiteX10" fmla="*/ 257175 w 812800"/>
              <a:gd name="connsiteY10" fmla="*/ 38100 h 63500"/>
              <a:gd name="connsiteX11" fmla="*/ 276225 w 812800"/>
              <a:gd name="connsiteY11" fmla="*/ 47625 h 63500"/>
              <a:gd name="connsiteX12" fmla="*/ 295275 w 812800"/>
              <a:gd name="connsiteY12" fmla="*/ 50800 h 63500"/>
              <a:gd name="connsiteX13" fmla="*/ 358775 w 812800"/>
              <a:gd name="connsiteY13" fmla="*/ 47625 h 63500"/>
              <a:gd name="connsiteX14" fmla="*/ 377825 w 812800"/>
              <a:gd name="connsiteY14" fmla="*/ 34925 h 63500"/>
              <a:gd name="connsiteX15" fmla="*/ 390525 w 812800"/>
              <a:gd name="connsiteY15" fmla="*/ 25400 h 63500"/>
              <a:gd name="connsiteX16" fmla="*/ 403225 w 812800"/>
              <a:gd name="connsiteY16" fmla="*/ 22225 h 63500"/>
              <a:gd name="connsiteX17" fmla="*/ 415925 w 812800"/>
              <a:gd name="connsiteY17" fmla="*/ 15875 h 63500"/>
              <a:gd name="connsiteX18" fmla="*/ 438150 w 812800"/>
              <a:gd name="connsiteY18" fmla="*/ 9525 h 63500"/>
              <a:gd name="connsiteX19" fmla="*/ 457200 w 812800"/>
              <a:gd name="connsiteY19" fmla="*/ 0 h 63500"/>
              <a:gd name="connsiteX20" fmla="*/ 479425 w 812800"/>
              <a:gd name="connsiteY20" fmla="*/ 3175 h 63500"/>
              <a:gd name="connsiteX21" fmla="*/ 482600 w 812800"/>
              <a:gd name="connsiteY21" fmla="*/ 15875 h 63500"/>
              <a:gd name="connsiteX22" fmla="*/ 514350 w 812800"/>
              <a:gd name="connsiteY22" fmla="*/ 41275 h 63500"/>
              <a:gd name="connsiteX23" fmla="*/ 565150 w 812800"/>
              <a:gd name="connsiteY23" fmla="*/ 47625 h 63500"/>
              <a:gd name="connsiteX24" fmla="*/ 590550 w 812800"/>
              <a:gd name="connsiteY24" fmla="*/ 50800 h 63500"/>
              <a:gd name="connsiteX25" fmla="*/ 654050 w 812800"/>
              <a:gd name="connsiteY25" fmla="*/ 53975 h 63500"/>
              <a:gd name="connsiteX26" fmla="*/ 663575 w 812800"/>
              <a:gd name="connsiteY26" fmla="*/ 47625 h 63500"/>
              <a:gd name="connsiteX27" fmla="*/ 679450 w 812800"/>
              <a:gd name="connsiteY27" fmla="*/ 44450 h 63500"/>
              <a:gd name="connsiteX28" fmla="*/ 698500 w 812800"/>
              <a:gd name="connsiteY28" fmla="*/ 38100 h 63500"/>
              <a:gd name="connsiteX29" fmla="*/ 730250 w 812800"/>
              <a:gd name="connsiteY29" fmla="*/ 47625 h 63500"/>
              <a:gd name="connsiteX30" fmla="*/ 812800 w 812800"/>
              <a:gd name="connsiteY30" fmla="*/ 47625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12800" h="63500">
                <a:moveTo>
                  <a:pt x="0" y="63500"/>
                </a:moveTo>
                <a:cubicBezTo>
                  <a:pt x="5292" y="61383"/>
                  <a:pt x="10468" y="58952"/>
                  <a:pt x="15875" y="57150"/>
                </a:cubicBezTo>
                <a:cubicBezTo>
                  <a:pt x="23184" y="54714"/>
                  <a:pt x="30946" y="53661"/>
                  <a:pt x="38100" y="50800"/>
                </a:cubicBezTo>
                <a:cubicBezTo>
                  <a:pt x="41643" y="49383"/>
                  <a:pt x="44005" y="45657"/>
                  <a:pt x="47625" y="44450"/>
                </a:cubicBezTo>
                <a:cubicBezTo>
                  <a:pt x="80547" y="33476"/>
                  <a:pt x="53945" y="47636"/>
                  <a:pt x="79375" y="38100"/>
                </a:cubicBezTo>
                <a:cubicBezTo>
                  <a:pt x="83807" y="36438"/>
                  <a:pt x="87725" y="33614"/>
                  <a:pt x="92075" y="31750"/>
                </a:cubicBezTo>
                <a:cubicBezTo>
                  <a:pt x="95151" y="30432"/>
                  <a:pt x="98425" y="29633"/>
                  <a:pt x="101600" y="28575"/>
                </a:cubicBezTo>
                <a:cubicBezTo>
                  <a:pt x="109008" y="29633"/>
                  <a:pt x="116657" y="29600"/>
                  <a:pt x="123825" y="31750"/>
                </a:cubicBezTo>
                <a:cubicBezTo>
                  <a:pt x="127480" y="32846"/>
                  <a:pt x="129536" y="37984"/>
                  <a:pt x="133350" y="38100"/>
                </a:cubicBezTo>
                <a:lnTo>
                  <a:pt x="228600" y="34925"/>
                </a:lnTo>
                <a:cubicBezTo>
                  <a:pt x="238125" y="35983"/>
                  <a:pt x="247722" y="36524"/>
                  <a:pt x="257175" y="38100"/>
                </a:cubicBezTo>
                <a:cubicBezTo>
                  <a:pt x="278768" y="41699"/>
                  <a:pt x="254284" y="40311"/>
                  <a:pt x="276225" y="47625"/>
                </a:cubicBezTo>
                <a:cubicBezTo>
                  <a:pt x="282332" y="49661"/>
                  <a:pt x="288925" y="49742"/>
                  <a:pt x="295275" y="50800"/>
                </a:cubicBezTo>
                <a:cubicBezTo>
                  <a:pt x="316442" y="49742"/>
                  <a:pt x="337662" y="49461"/>
                  <a:pt x="358775" y="47625"/>
                </a:cubicBezTo>
                <a:cubicBezTo>
                  <a:pt x="369794" y="46667"/>
                  <a:pt x="369644" y="41937"/>
                  <a:pt x="377825" y="34925"/>
                </a:cubicBezTo>
                <a:cubicBezTo>
                  <a:pt x="381843" y="31481"/>
                  <a:pt x="385792" y="27767"/>
                  <a:pt x="390525" y="25400"/>
                </a:cubicBezTo>
                <a:cubicBezTo>
                  <a:pt x="394428" y="23449"/>
                  <a:pt x="399139" y="23757"/>
                  <a:pt x="403225" y="22225"/>
                </a:cubicBezTo>
                <a:cubicBezTo>
                  <a:pt x="407657" y="20563"/>
                  <a:pt x="411493" y="17537"/>
                  <a:pt x="415925" y="15875"/>
                </a:cubicBezTo>
                <a:cubicBezTo>
                  <a:pt x="424063" y="12823"/>
                  <a:pt x="430474" y="13363"/>
                  <a:pt x="438150" y="9525"/>
                </a:cubicBezTo>
                <a:cubicBezTo>
                  <a:pt x="462769" y="-2785"/>
                  <a:pt x="433259" y="7980"/>
                  <a:pt x="457200" y="0"/>
                </a:cubicBezTo>
                <a:cubicBezTo>
                  <a:pt x="464608" y="1058"/>
                  <a:pt x="473079" y="-791"/>
                  <a:pt x="479425" y="3175"/>
                </a:cubicBezTo>
                <a:cubicBezTo>
                  <a:pt x="483125" y="5488"/>
                  <a:pt x="481068" y="11789"/>
                  <a:pt x="482600" y="15875"/>
                </a:cubicBezTo>
                <a:cubicBezTo>
                  <a:pt x="488731" y="32224"/>
                  <a:pt x="493621" y="36093"/>
                  <a:pt x="514350" y="41275"/>
                </a:cubicBezTo>
                <a:cubicBezTo>
                  <a:pt x="541028" y="47945"/>
                  <a:pt x="517985" y="42908"/>
                  <a:pt x="565150" y="47625"/>
                </a:cubicBezTo>
                <a:cubicBezTo>
                  <a:pt x="573640" y="48474"/>
                  <a:pt x="582083" y="49742"/>
                  <a:pt x="590550" y="50800"/>
                </a:cubicBezTo>
                <a:cubicBezTo>
                  <a:pt x="613705" y="66237"/>
                  <a:pt x="602717" y="61675"/>
                  <a:pt x="654050" y="53975"/>
                </a:cubicBezTo>
                <a:cubicBezTo>
                  <a:pt x="657824" y="53409"/>
                  <a:pt x="660002" y="48965"/>
                  <a:pt x="663575" y="47625"/>
                </a:cubicBezTo>
                <a:cubicBezTo>
                  <a:pt x="668628" y="45730"/>
                  <a:pt x="674244" y="45870"/>
                  <a:pt x="679450" y="44450"/>
                </a:cubicBezTo>
                <a:cubicBezTo>
                  <a:pt x="685908" y="42689"/>
                  <a:pt x="698500" y="38100"/>
                  <a:pt x="698500" y="38100"/>
                </a:cubicBezTo>
                <a:cubicBezTo>
                  <a:pt x="700426" y="38742"/>
                  <a:pt x="724918" y="47447"/>
                  <a:pt x="730250" y="47625"/>
                </a:cubicBezTo>
                <a:cubicBezTo>
                  <a:pt x="757751" y="48542"/>
                  <a:pt x="785283" y="47625"/>
                  <a:pt x="812800" y="476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4" name="자유형: 도형 183">
            <a:extLst>
              <a:ext uri="{FF2B5EF4-FFF2-40B4-BE49-F238E27FC236}">
                <a16:creationId xmlns:a16="http://schemas.microsoft.com/office/drawing/2014/main" id="{1935F3B5-642B-4E03-BD64-B8AE7E8420F2}"/>
              </a:ext>
            </a:extLst>
          </p:cNvPr>
          <p:cNvSpPr/>
          <p:nvPr/>
        </p:nvSpPr>
        <p:spPr>
          <a:xfrm rot="21169413">
            <a:off x="4937007" y="3754792"/>
            <a:ext cx="159896" cy="169675"/>
          </a:xfrm>
          <a:custGeom>
            <a:avLst/>
            <a:gdLst>
              <a:gd name="connsiteX0" fmla="*/ 12344 w 310794"/>
              <a:gd name="connsiteY0" fmla="*/ 276225 h 276225"/>
              <a:gd name="connsiteX1" fmla="*/ 9169 w 310794"/>
              <a:gd name="connsiteY1" fmla="*/ 184150 h 276225"/>
              <a:gd name="connsiteX2" fmla="*/ 34569 w 310794"/>
              <a:gd name="connsiteY2" fmla="*/ 190500 h 276225"/>
              <a:gd name="connsiteX3" fmla="*/ 47269 w 310794"/>
              <a:gd name="connsiteY3" fmla="*/ 193675 h 276225"/>
              <a:gd name="connsiteX4" fmla="*/ 82194 w 310794"/>
              <a:gd name="connsiteY4" fmla="*/ 190500 h 276225"/>
              <a:gd name="connsiteX5" fmla="*/ 85369 w 310794"/>
              <a:gd name="connsiteY5" fmla="*/ 171450 h 276225"/>
              <a:gd name="connsiteX6" fmla="*/ 91719 w 310794"/>
              <a:gd name="connsiteY6" fmla="*/ 117475 h 276225"/>
              <a:gd name="connsiteX7" fmla="*/ 132994 w 310794"/>
              <a:gd name="connsiteY7" fmla="*/ 123825 h 276225"/>
              <a:gd name="connsiteX8" fmla="*/ 145694 w 310794"/>
              <a:gd name="connsiteY8" fmla="*/ 127000 h 276225"/>
              <a:gd name="connsiteX9" fmla="*/ 190144 w 310794"/>
              <a:gd name="connsiteY9" fmla="*/ 133350 h 276225"/>
              <a:gd name="connsiteX10" fmla="*/ 228244 w 310794"/>
              <a:gd name="connsiteY10" fmla="*/ 117475 h 276225"/>
              <a:gd name="connsiteX11" fmla="*/ 244119 w 310794"/>
              <a:gd name="connsiteY11" fmla="*/ 69850 h 276225"/>
              <a:gd name="connsiteX12" fmla="*/ 250469 w 310794"/>
              <a:gd name="connsiteY12" fmla="*/ 60325 h 276225"/>
              <a:gd name="connsiteX13" fmla="*/ 298094 w 310794"/>
              <a:gd name="connsiteY13" fmla="*/ 53975 h 276225"/>
              <a:gd name="connsiteX14" fmla="*/ 301269 w 310794"/>
              <a:gd name="connsiteY14" fmla="*/ 41275 h 276225"/>
              <a:gd name="connsiteX15" fmla="*/ 307619 w 310794"/>
              <a:gd name="connsiteY15" fmla="*/ 22225 h 276225"/>
              <a:gd name="connsiteX16" fmla="*/ 310794 w 310794"/>
              <a:gd name="connsiteY16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794" h="276225">
                <a:moveTo>
                  <a:pt x="12344" y="276225"/>
                </a:moveTo>
                <a:cubicBezTo>
                  <a:pt x="1979" y="245129"/>
                  <a:pt x="-7727" y="223573"/>
                  <a:pt x="9169" y="184150"/>
                </a:cubicBezTo>
                <a:cubicBezTo>
                  <a:pt x="12607" y="176128"/>
                  <a:pt x="26102" y="188383"/>
                  <a:pt x="34569" y="190500"/>
                </a:cubicBezTo>
                <a:lnTo>
                  <a:pt x="47269" y="193675"/>
                </a:lnTo>
                <a:cubicBezTo>
                  <a:pt x="58911" y="192617"/>
                  <a:pt x="72097" y="196390"/>
                  <a:pt x="82194" y="190500"/>
                </a:cubicBezTo>
                <a:cubicBezTo>
                  <a:pt x="87755" y="187256"/>
                  <a:pt x="84695" y="177852"/>
                  <a:pt x="85369" y="171450"/>
                </a:cubicBezTo>
                <a:cubicBezTo>
                  <a:pt x="91112" y="116891"/>
                  <a:pt x="84491" y="146387"/>
                  <a:pt x="91719" y="117475"/>
                </a:cubicBezTo>
                <a:cubicBezTo>
                  <a:pt x="105477" y="119592"/>
                  <a:pt x="119286" y="121406"/>
                  <a:pt x="132994" y="123825"/>
                </a:cubicBezTo>
                <a:cubicBezTo>
                  <a:pt x="137291" y="124583"/>
                  <a:pt x="141390" y="126283"/>
                  <a:pt x="145694" y="127000"/>
                </a:cubicBezTo>
                <a:cubicBezTo>
                  <a:pt x="160457" y="129461"/>
                  <a:pt x="190144" y="133350"/>
                  <a:pt x="190144" y="133350"/>
                </a:cubicBezTo>
                <a:cubicBezTo>
                  <a:pt x="202679" y="130843"/>
                  <a:pt x="224024" y="134357"/>
                  <a:pt x="228244" y="117475"/>
                </a:cubicBezTo>
                <a:cubicBezTo>
                  <a:pt x="240297" y="69262"/>
                  <a:pt x="219704" y="106473"/>
                  <a:pt x="244119" y="69850"/>
                </a:cubicBezTo>
                <a:cubicBezTo>
                  <a:pt x="246236" y="66675"/>
                  <a:pt x="246849" y="61532"/>
                  <a:pt x="250469" y="60325"/>
                </a:cubicBezTo>
                <a:cubicBezTo>
                  <a:pt x="272084" y="53120"/>
                  <a:pt x="256659" y="57428"/>
                  <a:pt x="298094" y="53975"/>
                </a:cubicBezTo>
                <a:cubicBezTo>
                  <a:pt x="299152" y="49742"/>
                  <a:pt x="300015" y="45455"/>
                  <a:pt x="301269" y="41275"/>
                </a:cubicBezTo>
                <a:cubicBezTo>
                  <a:pt x="303192" y="34864"/>
                  <a:pt x="307619" y="22225"/>
                  <a:pt x="307619" y="22225"/>
                </a:cubicBezTo>
                <a:lnTo>
                  <a:pt x="310794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7" name="자유형: 도형 186">
            <a:extLst>
              <a:ext uri="{FF2B5EF4-FFF2-40B4-BE49-F238E27FC236}">
                <a16:creationId xmlns:a16="http://schemas.microsoft.com/office/drawing/2014/main" id="{F469CA06-EC5F-4A36-959D-2EE191DFD8EE}"/>
              </a:ext>
            </a:extLst>
          </p:cNvPr>
          <p:cNvSpPr/>
          <p:nvPr/>
        </p:nvSpPr>
        <p:spPr>
          <a:xfrm rot="446293">
            <a:off x="6015102" y="4302789"/>
            <a:ext cx="71876" cy="131141"/>
          </a:xfrm>
          <a:custGeom>
            <a:avLst/>
            <a:gdLst>
              <a:gd name="connsiteX0" fmla="*/ 19250 w 190700"/>
              <a:gd name="connsiteY0" fmla="*/ 0 h 271108"/>
              <a:gd name="connsiteX1" fmla="*/ 22425 w 190700"/>
              <a:gd name="connsiteY1" fmla="*/ 107950 h 271108"/>
              <a:gd name="connsiteX2" fmla="*/ 44650 w 190700"/>
              <a:gd name="connsiteY2" fmla="*/ 104775 h 271108"/>
              <a:gd name="connsiteX3" fmla="*/ 70050 w 190700"/>
              <a:gd name="connsiteY3" fmla="*/ 107950 h 271108"/>
              <a:gd name="connsiteX4" fmla="*/ 76400 w 190700"/>
              <a:gd name="connsiteY4" fmla="*/ 117475 h 271108"/>
              <a:gd name="connsiteX5" fmla="*/ 79575 w 190700"/>
              <a:gd name="connsiteY5" fmla="*/ 184150 h 271108"/>
              <a:gd name="connsiteX6" fmla="*/ 89100 w 190700"/>
              <a:gd name="connsiteY6" fmla="*/ 187325 h 271108"/>
              <a:gd name="connsiteX7" fmla="*/ 133550 w 190700"/>
              <a:gd name="connsiteY7" fmla="*/ 190500 h 271108"/>
              <a:gd name="connsiteX8" fmla="*/ 162125 w 190700"/>
              <a:gd name="connsiteY8" fmla="*/ 196850 h 271108"/>
              <a:gd name="connsiteX9" fmla="*/ 168475 w 190700"/>
              <a:gd name="connsiteY9" fmla="*/ 206375 h 271108"/>
              <a:gd name="connsiteX10" fmla="*/ 174825 w 190700"/>
              <a:gd name="connsiteY10" fmla="*/ 241300 h 271108"/>
              <a:gd name="connsiteX11" fmla="*/ 181175 w 190700"/>
              <a:gd name="connsiteY11" fmla="*/ 269875 h 271108"/>
              <a:gd name="connsiteX12" fmla="*/ 190700 w 190700"/>
              <a:gd name="connsiteY12" fmla="*/ 269875 h 271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700" h="271108">
                <a:moveTo>
                  <a:pt x="19250" y="0"/>
                </a:moveTo>
                <a:cubicBezTo>
                  <a:pt x="17864" y="15248"/>
                  <a:pt x="-25359" y="107950"/>
                  <a:pt x="22425" y="107950"/>
                </a:cubicBezTo>
                <a:cubicBezTo>
                  <a:pt x="29909" y="107950"/>
                  <a:pt x="37242" y="105833"/>
                  <a:pt x="44650" y="104775"/>
                </a:cubicBezTo>
                <a:cubicBezTo>
                  <a:pt x="53117" y="105833"/>
                  <a:pt x="62128" y="104781"/>
                  <a:pt x="70050" y="107950"/>
                </a:cubicBezTo>
                <a:cubicBezTo>
                  <a:pt x="73593" y="109367"/>
                  <a:pt x="75927" y="113689"/>
                  <a:pt x="76400" y="117475"/>
                </a:cubicBezTo>
                <a:cubicBezTo>
                  <a:pt x="79160" y="139553"/>
                  <a:pt x="75595" y="162259"/>
                  <a:pt x="79575" y="184150"/>
                </a:cubicBezTo>
                <a:cubicBezTo>
                  <a:pt x="80174" y="187443"/>
                  <a:pt x="85776" y="186934"/>
                  <a:pt x="89100" y="187325"/>
                </a:cubicBezTo>
                <a:cubicBezTo>
                  <a:pt x="103853" y="189061"/>
                  <a:pt x="118733" y="189442"/>
                  <a:pt x="133550" y="190500"/>
                </a:cubicBezTo>
                <a:cubicBezTo>
                  <a:pt x="133900" y="190570"/>
                  <a:pt x="160203" y="195569"/>
                  <a:pt x="162125" y="196850"/>
                </a:cubicBezTo>
                <a:cubicBezTo>
                  <a:pt x="165300" y="198967"/>
                  <a:pt x="166358" y="203200"/>
                  <a:pt x="168475" y="206375"/>
                </a:cubicBezTo>
                <a:cubicBezTo>
                  <a:pt x="176229" y="237391"/>
                  <a:pt x="166293" y="195795"/>
                  <a:pt x="174825" y="241300"/>
                </a:cubicBezTo>
                <a:cubicBezTo>
                  <a:pt x="176623" y="250890"/>
                  <a:pt x="176436" y="261346"/>
                  <a:pt x="181175" y="269875"/>
                </a:cubicBezTo>
                <a:cubicBezTo>
                  <a:pt x="182717" y="272650"/>
                  <a:pt x="187525" y="269875"/>
                  <a:pt x="190700" y="26987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9" name="자유형: 도형 158">
            <a:extLst>
              <a:ext uri="{FF2B5EF4-FFF2-40B4-BE49-F238E27FC236}">
                <a16:creationId xmlns:a16="http://schemas.microsoft.com/office/drawing/2014/main" id="{7F4361E1-C2D5-4555-8DE8-145F9486B596}"/>
              </a:ext>
            </a:extLst>
          </p:cNvPr>
          <p:cNvSpPr/>
          <p:nvPr/>
        </p:nvSpPr>
        <p:spPr>
          <a:xfrm>
            <a:off x="5561936" y="3543151"/>
            <a:ext cx="359569" cy="28575"/>
          </a:xfrm>
          <a:custGeom>
            <a:avLst/>
            <a:gdLst>
              <a:gd name="connsiteX0" fmla="*/ 0 w 359569"/>
              <a:gd name="connsiteY0" fmla="*/ 0 h 28575"/>
              <a:gd name="connsiteX1" fmla="*/ 66675 w 359569"/>
              <a:gd name="connsiteY1" fmla="*/ 2382 h 28575"/>
              <a:gd name="connsiteX2" fmla="*/ 76200 w 359569"/>
              <a:gd name="connsiteY2" fmla="*/ 7144 h 28575"/>
              <a:gd name="connsiteX3" fmla="*/ 83344 w 359569"/>
              <a:gd name="connsiteY3" fmla="*/ 11907 h 28575"/>
              <a:gd name="connsiteX4" fmla="*/ 100013 w 359569"/>
              <a:gd name="connsiteY4" fmla="*/ 21432 h 28575"/>
              <a:gd name="connsiteX5" fmla="*/ 114300 w 359569"/>
              <a:gd name="connsiteY5" fmla="*/ 19050 h 28575"/>
              <a:gd name="connsiteX6" fmla="*/ 128588 w 359569"/>
              <a:gd name="connsiteY6" fmla="*/ 14288 h 28575"/>
              <a:gd name="connsiteX7" fmla="*/ 135732 w 359569"/>
              <a:gd name="connsiteY7" fmla="*/ 9525 h 28575"/>
              <a:gd name="connsiteX8" fmla="*/ 147638 w 359569"/>
              <a:gd name="connsiteY8" fmla="*/ 7144 h 28575"/>
              <a:gd name="connsiteX9" fmla="*/ 154782 w 359569"/>
              <a:gd name="connsiteY9" fmla="*/ 4763 h 28575"/>
              <a:gd name="connsiteX10" fmla="*/ 166688 w 359569"/>
              <a:gd name="connsiteY10" fmla="*/ 11907 h 28575"/>
              <a:gd name="connsiteX11" fmla="*/ 176213 w 359569"/>
              <a:gd name="connsiteY11" fmla="*/ 16669 h 28575"/>
              <a:gd name="connsiteX12" fmla="*/ 183357 w 359569"/>
              <a:gd name="connsiteY12" fmla="*/ 21432 h 28575"/>
              <a:gd name="connsiteX13" fmla="*/ 197644 w 359569"/>
              <a:gd name="connsiteY13" fmla="*/ 26194 h 28575"/>
              <a:gd name="connsiteX14" fmla="*/ 204788 w 359569"/>
              <a:gd name="connsiteY14" fmla="*/ 28575 h 28575"/>
              <a:gd name="connsiteX15" fmla="*/ 214313 w 359569"/>
              <a:gd name="connsiteY15" fmla="*/ 26194 h 28575"/>
              <a:gd name="connsiteX16" fmla="*/ 221457 w 359569"/>
              <a:gd name="connsiteY16" fmla="*/ 21432 h 28575"/>
              <a:gd name="connsiteX17" fmla="*/ 230982 w 359569"/>
              <a:gd name="connsiteY17" fmla="*/ 16669 h 28575"/>
              <a:gd name="connsiteX18" fmla="*/ 238125 w 359569"/>
              <a:gd name="connsiteY18" fmla="*/ 7144 h 28575"/>
              <a:gd name="connsiteX19" fmla="*/ 245269 w 359569"/>
              <a:gd name="connsiteY19" fmla="*/ 4763 h 28575"/>
              <a:gd name="connsiteX20" fmla="*/ 252413 w 359569"/>
              <a:gd name="connsiteY20" fmla="*/ 0 h 28575"/>
              <a:gd name="connsiteX21" fmla="*/ 273844 w 359569"/>
              <a:gd name="connsiteY21" fmla="*/ 4763 h 28575"/>
              <a:gd name="connsiteX22" fmla="*/ 283369 w 359569"/>
              <a:gd name="connsiteY22" fmla="*/ 9525 h 28575"/>
              <a:gd name="connsiteX23" fmla="*/ 297657 w 359569"/>
              <a:gd name="connsiteY23" fmla="*/ 14288 h 28575"/>
              <a:gd name="connsiteX24" fmla="*/ 319088 w 359569"/>
              <a:gd name="connsiteY24" fmla="*/ 7144 h 28575"/>
              <a:gd name="connsiteX25" fmla="*/ 333375 w 359569"/>
              <a:gd name="connsiteY25" fmla="*/ 2382 h 28575"/>
              <a:gd name="connsiteX26" fmla="*/ 359569 w 359569"/>
              <a:gd name="connsiteY26" fmla="*/ 4763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9569" h="28575">
                <a:moveTo>
                  <a:pt x="0" y="0"/>
                </a:moveTo>
                <a:cubicBezTo>
                  <a:pt x="22225" y="794"/>
                  <a:pt x="44533" y="306"/>
                  <a:pt x="66675" y="2382"/>
                </a:cubicBezTo>
                <a:cubicBezTo>
                  <a:pt x="70209" y="2713"/>
                  <a:pt x="73118" y="5383"/>
                  <a:pt x="76200" y="7144"/>
                </a:cubicBezTo>
                <a:cubicBezTo>
                  <a:pt x="78685" y="8564"/>
                  <a:pt x="80859" y="10487"/>
                  <a:pt x="83344" y="11907"/>
                </a:cubicBezTo>
                <a:cubicBezTo>
                  <a:pt x="104493" y="23992"/>
                  <a:pt x="82607" y="9827"/>
                  <a:pt x="100013" y="21432"/>
                </a:cubicBezTo>
                <a:cubicBezTo>
                  <a:pt x="104775" y="20638"/>
                  <a:pt x="109616" y="20221"/>
                  <a:pt x="114300" y="19050"/>
                </a:cubicBezTo>
                <a:cubicBezTo>
                  <a:pt x="119170" y="17832"/>
                  <a:pt x="128588" y="14288"/>
                  <a:pt x="128588" y="14288"/>
                </a:cubicBezTo>
                <a:cubicBezTo>
                  <a:pt x="130969" y="12700"/>
                  <a:pt x="133052" y="10530"/>
                  <a:pt x="135732" y="9525"/>
                </a:cubicBezTo>
                <a:cubicBezTo>
                  <a:pt x="139522" y="8104"/>
                  <a:pt x="143712" y="8126"/>
                  <a:pt x="147638" y="7144"/>
                </a:cubicBezTo>
                <a:cubicBezTo>
                  <a:pt x="150073" y="6535"/>
                  <a:pt x="152401" y="5557"/>
                  <a:pt x="154782" y="4763"/>
                </a:cubicBezTo>
                <a:cubicBezTo>
                  <a:pt x="158751" y="7144"/>
                  <a:pt x="162642" y="9659"/>
                  <a:pt x="166688" y="11907"/>
                </a:cubicBezTo>
                <a:cubicBezTo>
                  <a:pt x="169791" y="13631"/>
                  <a:pt x="173131" y="14908"/>
                  <a:pt x="176213" y="16669"/>
                </a:cubicBezTo>
                <a:cubicBezTo>
                  <a:pt x="178698" y="18089"/>
                  <a:pt x="180742" y="20270"/>
                  <a:pt x="183357" y="21432"/>
                </a:cubicBezTo>
                <a:cubicBezTo>
                  <a:pt x="187944" y="23471"/>
                  <a:pt x="192882" y="24607"/>
                  <a:pt x="197644" y="26194"/>
                </a:cubicBezTo>
                <a:lnTo>
                  <a:pt x="204788" y="28575"/>
                </a:lnTo>
                <a:cubicBezTo>
                  <a:pt x="207963" y="27781"/>
                  <a:pt x="211305" y="27483"/>
                  <a:pt x="214313" y="26194"/>
                </a:cubicBezTo>
                <a:cubicBezTo>
                  <a:pt x="216944" y="25067"/>
                  <a:pt x="218972" y="22852"/>
                  <a:pt x="221457" y="21432"/>
                </a:cubicBezTo>
                <a:cubicBezTo>
                  <a:pt x="224539" y="19671"/>
                  <a:pt x="227807" y="18257"/>
                  <a:pt x="230982" y="16669"/>
                </a:cubicBezTo>
                <a:cubicBezTo>
                  <a:pt x="233363" y="13494"/>
                  <a:pt x="235076" y="9685"/>
                  <a:pt x="238125" y="7144"/>
                </a:cubicBezTo>
                <a:cubicBezTo>
                  <a:pt x="240053" y="5537"/>
                  <a:pt x="243024" y="5886"/>
                  <a:pt x="245269" y="4763"/>
                </a:cubicBezTo>
                <a:cubicBezTo>
                  <a:pt x="247829" y="3483"/>
                  <a:pt x="250032" y="1588"/>
                  <a:pt x="252413" y="0"/>
                </a:cubicBezTo>
                <a:cubicBezTo>
                  <a:pt x="260972" y="1427"/>
                  <a:pt x="266385" y="1567"/>
                  <a:pt x="273844" y="4763"/>
                </a:cubicBezTo>
                <a:cubicBezTo>
                  <a:pt x="277107" y="6161"/>
                  <a:pt x="280073" y="8207"/>
                  <a:pt x="283369" y="9525"/>
                </a:cubicBezTo>
                <a:cubicBezTo>
                  <a:pt x="288030" y="11389"/>
                  <a:pt x="297657" y="14288"/>
                  <a:pt x="297657" y="14288"/>
                </a:cubicBezTo>
                <a:cubicBezTo>
                  <a:pt x="329831" y="8926"/>
                  <a:pt x="298997" y="16073"/>
                  <a:pt x="319088" y="7144"/>
                </a:cubicBezTo>
                <a:cubicBezTo>
                  <a:pt x="323675" y="5105"/>
                  <a:pt x="333375" y="2382"/>
                  <a:pt x="333375" y="2382"/>
                </a:cubicBezTo>
                <a:lnTo>
                  <a:pt x="359569" y="4763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62" name="자유형: 도형 161">
            <a:extLst>
              <a:ext uri="{FF2B5EF4-FFF2-40B4-BE49-F238E27FC236}">
                <a16:creationId xmlns:a16="http://schemas.microsoft.com/office/drawing/2014/main" id="{90DAAA19-83CE-45CE-9BE6-B342D4ECAE93}"/>
              </a:ext>
            </a:extLst>
          </p:cNvPr>
          <p:cNvSpPr/>
          <p:nvPr/>
        </p:nvSpPr>
        <p:spPr>
          <a:xfrm>
            <a:off x="6009611" y="3840808"/>
            <a:ext cx="79952" cy="173831"/>
          </a:xfrm>
          <a:custGeom>
            <a:avLst/>
            <a:gdLst>
              <a:gd name="connsiteX0" fmla="*/ 14288 w 79952"/>
              <a:gd name="connsiteY0" fmla="*/ 173831 h 173831"/>
              <a:gd name="connsiteX1" fmla="*/ 9525 w 79952"/>
              <a:gd name="connsiteY1" fmla="*/ 157162 h 173831"/>
              <a:gd name="connsiteX2" fmla="*/ 0 w 79952"/>
              <a:gd name="connsiteY2" fmla="*/ 142875 h 173831"/>
              <a:gd name="connsiteX3" fmla="*/ 45244 w 79952"/>
              <a:gd name="connsiteY3" fmla="*/ 133350 h 173831"/>
              <a:gd name="connsiteX4" fmla="*/ 50007 w 79952"/>
              <a:gd name="connsiteY4" fmla="*/ 114300 h 173831"/>
              <a:gd name="connsiteX5" fmla="*/ 47625 w 79952"/>
              <a:gd name="connsiteY5" fmla="*/ 100012 h 173831"/>
              <a:gd name="connsiteX6" fmla="*/ 42863 w 79952"/>
              <a:gd name="connsiteY6" fmla="*/ 92868 h 173831"/>
              <a:gd name="connsiteX7" fmla="*/ 40482 w 79952"/>
              <a:gd name="connsiteY7" fmla="*/ 85725 h 173831"/>
              <a:gd name="connsiteX8" fmla="*/ 42863 w 79952"/>
              <a:gd name="connsiteY8" fmla="*/ 78581 h 173831"/>
              <a:gd name="connsiteX9" fmla="*/ 59532 w 79952"/>
              <a:gd name="connsiteY9" fmla="*/ 76200 h 173831"/>
              <a:gd name="connsiteX10" fmla="*/ 69057 w 79952"/>
              <a:gd name="connsiteY10" fmla="*/ 73818 h 173831"/>
              <a:gd name="connsiteX11" fmla="*/ 69057 w 79952"/>
              <a:gd name="connsiteY11" fmla="*/ 47625 h 173831"/>
              <a:gd name="connsiteX12" fmla="*/ 64294 w 79952"/>
              <a:gd name="connsiteY12" fmla="*/ 33337 h 173831"/>
              <a:gd name="connsiteX13" fmla="*/ 66675 w 79952"/>
              <a:gd name="connsiteY13" fmla="*/ 21431 h 173831"/>
              <a:gd name="connsiteX14" fmla="*/ 78582 w 79952"/>
              <a:gd name="connsiteY14" fmla="*/ 19050 h 173831"/>
              <a:gd name="connsiteX15" fmla="*/ 78582 w 79952"/>
              <a:gd name="connsiteY15" fmla="*/ 0 h 17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9952" h="173831">
                <a:moveTo>
                  <a:pt x="14288" y="173831"/>
                </a:moveTo>
                <a:cubicBezTo>
                  <a:pt x="12700" y="168275"/>
                  <a:pt x="11947" y="162409"/>
                  <a:pt x="9525" y="157162"/>
                </a:cubicBezTo>
                <a:cubicBezTo>
                  <a:pt x="7126" y="151965"/>
                  <a:pt x="0" y="142875"/>
                  <a:pt x="0" y="142875"/>
                </a:cubicBezTo>
                <a:cubicBezTo>
                  <a:pt x="15971" y="118920"/>
                  <a:pt x="-15614" y="162177"/>
                  <a:pt x="45244" y="133350"/>
                </a:cubicBezTo>
                <a:cubicBezTo>
                  <a:pt x="51159" y="130548"/>
                  <a:pt x="50007" y="114300"/>
                  <a:pt x="50007" y="114300"/>
                </a:cubicBezTo>
                <a:cubicBezTo>
                  <a:pt x="49213" y="109537"/>
                  <a:pt x="49152" y="104593"/>
                  <a:pt x="47625" y="100012"/>
                </a:cubicBezTo>
                <a:cubicBezTo>
                  <a:pt x="46720" y="97297"/>
                  <a:pt x="44143" y="95428"/>
                  <a:pt x="42863" y="92868"/>
                </a:cubicBezTo>
                <a:cubicBezTo>
                  <a:pt x="41741" y="90623"/>
                  <a:pt x="41276" y="88106"/>
                  <a:pt x="40482" y="85725"/>
                </a:cubicBezTo>
                <a:cubicBezTo>
                  <a:pt x="41276" y="83344"/>
                  <a:pt x="40618" y="79704"/>
                  <a:pt x="42863" y="78581"/>
                </a:cubicBezTo>
                <a:cubicBezTo>
                  <a:pt x="47883" y="76071"/>
                  <a:pt x="54010" y="77204"/>
                  <a:pt x="59532" y="76200"/>
                </a:cubicBezTo>
                <a:cubicBezTo>
                  <a:pt x="62752" y="75614"/>
                  <a:pt x="65882" y="74612"/>
                  <a:pt x="69057" y="73818"/>
                </a:cubicBezTo>
                <a:cubicBezTo>
                  <a:pt x="73002" y="61982"/>
                  <a:pt x="72920" y="65653"/>
                  <a:pt x="69057" y="47625"/>
                </a:cubicBezTo>
                <a:cubicBezTo>
                  <a:pt x="68005" y="42716"/>
                  <a:pt x="64294" y="33337"/>
                  <a:pt x="64294" y="33337"/>
                </a:cubicBezTo>
                <a:cubicBezTo>
                  <a:pt x="65088" y="29368"/>
                  <a:pt x="63813" y="24293"/>
                  <a:pt x="66675" y="21431"/>
                </a:cubicBezTo>
                <a:cubicBezTo>
                  <a:pt x="69537" y="18569"/>
                  <a:pt x="76616" y="22588"/>
                  <a:pt x="78582" y="19050"/>
                </a:cubicBezTo>
                <a:cubicBezTo>
                  <a:pt x="81666" y="13499"/>
                  <a:pt x="78582" y="6350"/>
                  <a:pt x="78582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63" name="자유형: 도형 162">
            <a:extLst>
              <a:ext uri="{FF2B5EF4-FFF2-40B4-BE49-F238E27FC236}">
                <a16:creationId xmlns:a16="http://schemas.microsoft.com/office/drawing/2014/main" id="{418F2600-8742-4689-A9A3-118266753156}"/>
              </a:ext>
            </a:extLst>
          </p:cNvPr>
          <p:cNvSpPr/>
          <p:nvPr/>
        </p:nvSpPr>
        <p:spPr>
          <a:xfrm>
            <a:off x="5337606" y="3914626"/>
            <a:ext cx="45719" cy="502444"/>
          </a:xfrm>
          <a:custGeom>
            <a:avLst/>
            <a:gdLst>
              <a:gd name="connsiteX0" fmla="*/ 31449 w 79074"/>
              <a:gd name="connsiteY0" fmla="*/ 0 h 502444"/>
              <a:gd name="connsiteX1" fmla="*/ 40974 w 79074"/>
              <a:gd name="connsiteY1" fmla="*/ 130969 h 502444"/>
              <a:gd name="connsiteX2" fmla="*/ 29068 w 79074"/>
              <a:gd name="connsiteY2" fmla="*/ 142875 h 502444"/>
              <a:gd name="connsiteX3" fmla="*/ 12399 w 79074"/>
              <a:gd name="connsiteY3" fmla="*/ 164307 h 502444"/>
              <a:gd name="connsiteX4" fmla="*/ 7637 w 79074"/>
              <a:gd name="connsiteY4" fmla="*/ 178594 h 502444"/>
              <a:gd name="connsiteX5" fmla="*/ 493 w 79074"/>
              <a:gd name="connsiteY5" fmla="*/ 195263 h 502444"/>
              <a:gd name="connsiteX6" fmla="*/ 10018 w 79074"/>
              <a:gd name="connsiteY6" fmla="*/ 230982 h 502444"/>
              <a:gd name="connsiteX7" fmla="*/ 19543 w 79074"/>
              <a:gd name="connsiteY7" fmla="*/ 233363 h 502444"/>
              <a:gd name="connsiteX8" fmla="*/ 40974 w 79074"/>
              <a:gd name="connsiteY8" fmla="*/ 245269 h 502444"/>
              <a:gd name="connsiteX9" fmla="*/ 57643 w 79074"/>
              <a:gd name="connsiteY9" fmla="*/ 250032 h 502444"/>
              <a:gd name="connsiteX10" fmla="*/ 64787 w 79074"/>
              <a:gd name="connsiteY10" fmla="*/ 254794 h 502444"/>
              <a:gd name="connsiteX11" fmla="*/ 76693 w 79074"/>
              <a:gd name="connsiteY11" fmla="*/ 259557 h 502444"/>
              <a:gd name="connsiteX12" fmla="*/ 79074 w 79074"/>
              <a:gd name="connsiteY12" fmla="*/ 266700 h 502444"/>
              <a:gd name="connsiteX13" fmla="*/ 76693 w 79074"/>
              <a:gd name="connsiteY13" fmla="*/ 288132 h 502444"/>
              <a:gd name="connsiteX14" fmla="*/ 62405 w 79074"/>
              <a:gd name="connsiteY14" fmla="*/ 307182 h 502444"/>
              <a:gd name="connsiteX15" fmla="*/ 52880 w 79074"/>
              <a:gd name="connsiteY15" fmla="*/ 314325 h 502444"/>
              <a:gd name="connsiteX16" fmla="*/ 43355 w 79074"/>
              <a:gd name="connsiteY16" fmla="*/ 323850 h 502444"/>
              <a:gd name="connsiteX17" fmla="*/ 31449 w 79074"/>
              <a:gd name="connsiteY17" fmla="*/ 333375 h 502444"/>
              <a:gd name="connsiteX18" fmla="*/ 21924 w 79074"/>
              <a:gd name="connsiteY18" fmla="*/ 342900 h 502444"/>
              <a:gd name="connsiteX19" fmla="*/ 12399 w 79074"/>
              <a:gd name="connsiteY19" fmla="*/ 357188 h 502444"/>
              <a:gd name="connsiteX20" fmla="*/ 12399 w 79074"/>
              <a:gd name="connsiteY20" fmla="*/ 381000 h 502444"/>
              <a:gd name="connsiteX21" fmla="*/ 21924 w 79074"/>
              <a:gd name="connsiteY21" fmla="*/ 390525 h 502444"/>
              <a:gd name="connsiteX22" fmla="*/ 26687 w 79074"/>
              <a:gd name="connsiteY22" fmla="*/ 397669 h 502444"/>
              <a:gd name="connsiteX23" fmla="*/ 40974 w 79074"/>
              <a:gd name="connsiteY23" fmla="*/ 426244 h 502444"/>
              <a:gd name="connsiteX24" fmla="*/ 45737 w 79074"/>
              <a:gd name="connsiteY24" fmla="*/ 435769 h 502444"/>
              <a:gd name="connsiteX25" fmla="*/ 50499 w 79074"/>
              <a:gd name="connsiteY25" fmla="*/ 442913 h 502444"/>
              <a:gd name="connsiteX26" fmla="*/ 48118 w 79074"/>
              <a:gd name="connsiteY26" fmla="*/ 466725 h 502444"/>
              <a:gd name="connsiteX27" fmla="*/ 38593 w 79074"/>
              <a:gd name="connsiteY27" fmla="*/ 485775 h 502444"/>
              <a:gd name="connsiteX28" fmla="*/ 36212 w 79074"/>
              <a:gd name="connsiteY28" fmla="*/ 502444 h 50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074" h="502444">
                <a:moveTo>
                  <a:pt x="31449" y="0"/>
                </a:moveTo>
                <a:cubicBezTo>
                  <a:pt x="34624" y="43656"/>
                  <a:pt x="41703" y="87203"/>
                  <a:pt x="40974" y="130969"/>
                </a:cubicBezTo>
                <a:cubicBezTo>
                  <a:pt x="40880" y="136581"/>
                  <a:pt x="32721" y="138614"/>
                  <a:pt x="29068" y="142875"/>
                </a:cubicBezTo>
                <a:cubicBezTo>
                  <a:pt x="23178" y="149747"/>
                  <a:pt x="12399" y="164307"/>
                  <a:pt x="12399" y="164307"/>
                </a:cubicBezTo>
                <a:cubicBezTo>
                  <a:pt x="10812" y="169069"/>
                  <a:pt x="9882" y="174104"/>
                  <a:pt x="7637" y="178594"/>
                </a:cubicBezTo>
                <a:cubicBezTo>
                  <a:pt x="1751" y="190364"/>
                  <a:pt x="3996" y="184751"/>
                  <a:pt x="493" y="195263"/>
                </a:cubicBezTo>
                <a:cubicBezTo>
                  <a:pt x="2014" y="215044"/>
                  <a:pt x="-5438" y="224358"/>
                  <a:pt x="10018" y="230982"/>
                </a:cubicBezTo>
                <a:cubicBezTo>
                  <a:pt x="13026" y="232271"/>
                  <a:pt x="16368" y="232569"/>
                  <a:pt x="19543" y="233363"/>
                </a:cubicBezTo>
                <a:cubicBezTo>
                  <a:pt x="27720" y="238813"/>
                  <a:pt x="30449" y="241059"/>
                  <a:pt x="40974" y="245269"/>
                </a:cubicBezTo>
                <a:cubicBezTo>
                  <a:pt x="48621" y="248328"/>
                  <a:pt x="50702" y="246562"/>
                  <a:pt x="57643" y="250032"/>
                </a:cubicBezTo>
                <a:cubicBezTo>
                  <a:pt x="60203" y="251312"/>
                  <a:pt x="62227" y="253514"/>
                  <a:pt x="64787" y="254794"/>
                </a:cubicBezTo>
                <a:cubicBezTo>
                  <a:pt x="68610" y="256706"/>
                  <a:pt x="72724" y="257969"/>
                  <a:pt x="76693" y="259557"/>
                </a:cubicBezTo>
                <a:cubicBezTo>
                  <a:pt x="77487" y="261938"/>
                  <a:pt x="79074" y="264190"/>
                  <a:pt x="79074" y="266700"/>
                </a:cubicBezTo>
                <a:cubicBezTo>
                  <a:pt x="79074" y="273888"/>
                  <a:pt x="78668" y="281221"/>
                  <a:pt x="76693" y="288132"/>
                </a:cubicBezTo>
                <a:cubicBezTo>
                  <a:pt x="74748" y="294939"/>
                  <a:pt x="67778" y="302577"/>
                  <a:pt x="62405" y="307182"/>
                </a:cubicBezTo>
                <a:cubicBezTo>
                  <a:pt x="59392" y="309765"/>
                  <a:pt x="55867" y="311712"/>
                  <a:pt x="52880" y="314325"/>
                </a:cubicBezTo>
                <a:cubicBezTo>
                  <a:pt x="49501" y="317282"/>
                  <a:pt x="46711" y="320867"/>
                  <a:pt x="43355" y="323850"/>
                </a:cubicBezTo>
                <a:cubicBezTo>
                  <a:pt x="39556" y="327227"/>
                  <a:pt x="35248" y="329998"/>
                  <a:pt x="31449" y="333375"/>
                </a:cubicBezTo>
                <a:cubicBezTo>
                  <a:pt x="28093" y="336358"/>
                  <a:pt x="24729" y="339394"/>
                  <a:pt x="21924" y="342900"/>
                </a:cubicBezTo>
                <a:cubicBezTo>
                  <a:pt x="18348" y="347370"/>
                  <a:pt x="12399" y="357188"/>
                  <a:pt x="12399" y="357188"/>
                </a:cubicBezTo>
                <a:cubicBezTo>
                  <a:pt x="9373" y="366267"/>
                  <a:pt x="7137" y="369425"/>
                  <a:pt x="12399" y="381000"/>
                </a:cubicBezTo>
                <a:cubicBezTo>
                  <a:pt x="14257" y="385088"/>
                  <a:pt x="19002" y="387116"/>
                  <a:pt x="21924" y="390525"/>
                </a:cubicBezTo>
                <a:cubicBezTo>
                  <a:pt x="23787" y="392698"/>
                  <a:pt x="25316" y="395156"/>
                  <a:pt x="26687" y="397669"/>
                </a:cubicBezTo>
                <a:cubicBezTo>
                  <a:pt x="26707" y="397706"/>
                  <a:pt x="38583" y="421463"/>
                  <a:pt x="40974" y="426244"/>
                </a:cubicBezTo>
                <a:cubicBezTo>
                  <a:pt x="42562" y="429419"/>
                  <a:pt x="43768" y="432815"/>
                  <a:pt x="45737" y="435769"/>
                </a:cubicBezTo>
                <a:lnTo>
                  <a:pt x="50499" y="442913"/>
                </a:lnTo>
                <a:cubicBezTo>
                  <a:pt x="49705" y="450850"/>
                  <a:pt x="49682" y="458903"/>
                  <a:pt x="48118" y="466725"/>
                </a:cubicBezTo>
                <a:cubicBezTo>
                  <a:pt x="46454" y="475047"/>
                  <a:pt x="42940" y="479254"/>
                  <a:pt x="38593" y="485775"/>
                </a:cubicBezTo>
                <a:cubicBezTo>
                  <a:pt x="35208" y="495931"/>
                  <a:pt x="36212" y="490409"/>
                  <a:pt x="36212" y="50244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68" name="자유형: 도형 167">
            <a:extLst>
              <a:ext uri="{FF2B5EF4-FFF2-40B4-BE49-F238E27FC236}">
                <a16:creationId xmlns:a16="http://schemas.microsoft.com/office/drawing/2014/main" id="{446DFFA1-C8D9-439A-943C-90D127E06BCD}"/>
              </a:ext>
            </a:extLst>
          </p:cNvPr>
          <p:cNvSpPr/>
          <p:nvPr/>
        </p:nvSpPr>
        <p:spPr>
          <a:xfrm>
            <a:off x="5583368" y="4586139"/>
            <a:ext cx="350043" cy="35719"/>
          </a:xfrm>
          <a:custGeom>
            <a:avLst/>
            <a:gdLst>
              <a:gd name="connsiteX0" fmla="*/ 0 w 350043"/>
              <a:gd name="connsiteY0" fmla="*/ 35719 h 35719"/>
              <a:gd name="connsiteX1" fmla="*/ 30956 w 350043"/>
              <a:gd name="connsiteY1" fmla="*/ 19050 h 35719"/>
              <a:gd name="connsiteX2" fmla="*/ 45243 w 350043"/>
              <a:gd name="connsiteY2" fmla="*/ 9525 h 35719"/>
              <a:gd name="connsiteX3" fmla="*/ 52387 w 350043"/>
              <a:gd name="connsiteY3" fmla="*/ 4762 h 35719"/>
              <a:gd name="connsiteX4" fmla="*/ 66675 w 350043"/>
              <a:gd name="connsiteY4" fmla="*/ 0 h 35719"/>
              <a:gd name="connsiteX5" fmla="*/ 102393 w 350043"/>
              <a:gd name="connsiteY5" fmla="*/ 9525 h 35719"/>
              <a:gd name="connsiteX6" fmla="*/ 111918 w 350043"/>
              <a:gd name="connsiteY6" fmla="*/ 14287 h 35719"/>
              <a:gd name="connsiteX7" fmla="*/ 130968 w 350043"/>
              <a:gd name="connsiteY7" fmla="*/ 26194 h 35719"/>
              <a:gd name="connsiteX8" fmla="*/ 147637 w 350043"/>
              <a:gd name="connsiteY8" fmla="*/ 30956 h 35719"/>
              <a:gd name="connsiteX9" fmla="*/ 164306 w 350043"/>
              <a:gd name="connsiteY9" fmla="*/ 26194 h 35719"/>
              <a:gd name="connsiteX10" fmla="*/ 171450 w 350043"/>
              <a:gd name="connsiteY10" fmla="*/ 23812 h 35719"/>
              <a:gd name="connsiteX11" fmla="*/ 178593 w 350043"/>
              <a:gd name="connsiteY11" fmla="*/ 16669 h 35719"/>
              <a:gd name="connsiteX12" fmla="*/ 185737 w 350043"/>
              <a:gd name="connsiteY12" fmla="*/ 14287 h 35719"/>
              <a:gd name="connsiteX13" fmla="*/ 200025 w 350043"/>
              <a:gd name="connsiteY13" fmla="*/ 7144 h 35719"/>
              <a:gd name="connsiteX14" fmla="*/ 238125 w 350043"/>
              <a:gd name="connsiteY14" fmla="*/ 9525 h 35719"/>
              <a:gd name="connsiteX15" fmla="*/ 257175 w 350043"/>
              <a:gd name="connsiteY15" fmla="*/ 19050 h 35719"/>
              <a:gd name="connsiteX16" fmla="*/ 266700 w 350043"/>
              <a:gd name="connsiteY16" fmla="*/ 26194 h 35719"/>
              <a:gd name="connsiteX17" fmla="*/ 273843 w 350043"/>
              <a:gd name="connsiteY17" fmla="*/ 28575 h 35719"/>
              <a:gd name="connsiteX18" fmla="*/ 285750 w 350043"/>
              <a:gd name="connsiteY18" fmla="*/ 23812 h 35719"/>
              <a:gd name="connsiteX19" fmla="*/ 297656 w 350043"/>
              <a:gd name="connsiteY19" fmla="*/ 4762 h 35719"/>
              <a:gd name="connsiteX20" fmla="*/ 323850 w 350043"/>
              <a:gd name="connsiteY20" fmla="*/ 7144 h 35719"/>
              <a:gd name="connsiteX21" fmla="*/ 350043 w 350043"/>
              <a:gd name="connsiteY21" fmla="*/ 9525 h 3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0043" h="35719">
                <a:moveTo>
                  <a:pt x="0" y="35719"/>
                </a:moveTo>
                <a:cubicBezTo>
                  <a:pt x="10768" y="31411"/>
                  <a:pt x="22455" y="27551"/>
                  <a:pt x="30956" y="19050"/>
                </a:cubicBezTo>
                <a:cubicBezTo>
                  <a:pt x="39875" y="10131"/>
                  <a:pt x="34905" y="12971"/>
                  <a:pt x="45243" y="9525"/>
                </a:cubicBezTo>
                <a:cubicBezTo>
                  <a:pt x="47624" y="7937"/>
                  <a:pt x="49772" y="5924"/>
                  <a:pt x="52387" y="4762"/>
                </a:cubicBezTo>
                <a:cubicBezTo>
                  <a:pt x="56975" y="2723"/>
                  <a:pt x="66675" y="0"/>
                  <a:pt x="66675" y="0"/>
                </a:cubicBezTo>
                <a:cubicBezTo>
                  <a:pt x="87999" y="4264"/>
                  <a:pt x="86499" y="2461"/>
                  <a:pt x="102393" y="9525"/>
                </a:cubicBezTo>
                <a:cubicBezTo>
                  <a:pt x="105637" y="10967"/>
                  <a:pt x="108836" y="12526"/>
                  <a:pt x="111918" y="14287"/>
                </a:cubicBezTo>
                <a:cubicBezTo>
                  <a:pt x="125145" y="21845"/>
                  <a:pt x="112998" y="17209"/>
                  <a:pt x="130968" y="26194"/>
                </a:cubicBezTo>
                <a:cubicBezTo>
                  <a:pt x="134383" y="27902"/>
                  <a:pt x="144587" y="30193"/>
                  <a:pt x="147637" y="30956"/>
                </a:cubicBezTo>
                <a:lnTo>
                  <a:pt x="164306" y="26194"/>
                </a:lnTo>
                <a:cubicBezTo>
                  <a:pt x="166710" y="25473"/>
                  <a:pt x="169361" y="25204"/>
                  <a:pt x="171450" y="23812"/>
                </a:cubicBezTo>
                <a:cubicBezTo>
                  <a:pt x="174252" y="21944"/>
                  <a:pt x="175791" y="18537"/>
                  <a:pt x="178593" y="16669"/>
                </a:cubicBezTo>
                <a:cubicBezTo>
                  <a:pt x="180682" y="15277"/>
                  <a:pt x="183492" y="15410"/>
                  <a:pt x="185737" y="14287"/>
                </a:cubicBezTo>
                <a:cubicBezTo>
                  <a:pt x="204195" y="5058"/>
                  <a:pt x="182075" y="13127"/>
                  <a:pt x="200025" y="7144"/>
                </a:cubicBezTo>
                <a:cubicBezTo>
                  <a:pt x="212725" y="7938"/>
                  <a:pt x="225528" y="7726"/>
                  <a:pt x="238125" y="9525"/>
                </a:cubicBezTo>
                <a:cubicBezTo>
                  <a:pt x="244805" y="10479"/>
                  <a:pt x="251754" y="15177"/>
                  <a:pt x="257175" y="19050"/>
                </a:cubicBezTo>
                <a:cubicBezTo>
                  <a:pt x="260404" y="21357"/>
                  <a:pt x="263254" y="24225"/>
                  <a:pt x="266700" y="26194"/>
                </a:cubicBezTo>
                <a:cubicBezTo>
                  <a:pt x="268879" y="27439"/>
                  <a:pt x="271462" y="27781"/>
                  <a:pt x="273843" y="28575"/>
                </a:cubicBezTo>
                <a:cubicBezTo>
                  <a:pt x="277812" y="26987"/>
                  <a:pt x="282376" y="26436"/>
                  <a:pt x="285750" y="23812"/>
                </a:cubicBezTo>
                <a:cubicBezTo>
                  <a:pt x="294486" y="17017"/>
                  <a:pt x="294832" y="13235"/>
                  <a:pt x="297656" y="4762"/>
                </a:cubicBezTo>
                <a:cubicBezTo>
                  <a:pt x="306387" y="5556"/>
                  <a:pt x="315143" y="6119"/>
                  <a:pt x="323850" y="7144"/>
                </a:cubicBezTo>
                <a:cubicBezTo>
                  <a:pt x="349631" y="10177"/>
                  <a:pt x="327079" y="9525"/>
                  <a:pt x="350043" y="952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aphicFrame>
        <p:nvGraphicFramePr>
          <p:cNvPr id="225" name="표 224">
            <a:extLst>
              <a:ext uri="{FF2B5EF4-FFF2-40B4-BE49-F238E27FC236}">
                <a16:creationId xmlns:a16="http://schemas.microsoft.com/office/drawing/2014/main" id="{99D9F853-C217-4E5F-9769-3DA9985FF2AF}"/>
              </a:ext>
            </a:extLst>
          </p:cNvPr>
          <p:cNvGraphicFramePr>
            <a:graphicFrameLocks noGrp="1"/>
          </p:cNvGraphicFramePr>
          <p:nvPr/>
        </p:nvGraphicFramePr>
        <p:xfrm>
          <a:off x="6077921" y="4823697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5230E76D-2897-4E36-96B9-61C8007820BB}"/>
              </a:ext>
            </a:extLst>
          </p:cNvPr>
          <p:cNvGraphicFramePr>
            <a:graphicFrameLocks noGrp="1"/>
          </p:cNvGraphicFramePr>
          <p:nvPr/>
        </p:nvGraphicFramePr>
        <p:xfrm>
          <a:off x="6111997" y="3745929"/>
          <a:ext cx="642995" cy="12649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8599">
                  <a:extLst>
                    <a:ext uri="{9D8B030D-6E8A-4147-A177-3AD203B41FA5}">
                      <a16:colId xmlns:a16="http://schemas.microsoft.com/office/drawing/2014/main" val="506925162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413099088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219077110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3051270657"/>
                    </a:ext>
                  </a:extLst>
                </a:gridCol>
                <a:gridCol w="128599">
                  <a:extLst>
                    <a:ext uri="{9D8B030D-6E8A-4147-A177-3AD203B41FA5}">
                      <a16:colId xmlns:a16="http://schemas.microsoft.com/office/drawing/2014/main" val="1747509977"/>
                    </a:ext>
                  </a:extLst>
                </a:gridCol>
              </a:tblGrid>
              <a:tr h="12649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740876"/>
                  </a:ext>
                </a:extLst>
              </a:tr>
            </a:tbl>
          </a:graphicData>
        </a:graphic>
      </p:graphicFrame>
      <p:sp>
        <p:nvSpPr>
          <p:cNvPr id="229" name="처리 7">
            <a:extLst>
              <a:ext uri="{FF2B5EF4-FFF2-40B4-BE49-F238E27FC236}">
                <a16:creationId xmlns:a16="http://schemas.microsoft.com/office/drawing/2014/main" id="{F887E806-FD6C-4F76-A471-02CF68A4A263}"/>
              </a:ext>
            </a:extLst>
          </p:cNvPr>
          <p:cNvSpPr/>
          <p:nvPr/>
        </p:nvSpPr>
        <p:spPr>
          <a:xfrm>
            <a:off x="4666615" y="2108863"/>
            <a:ext cx="1542776" cy="32299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GNN Encoder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0D501BB6-B884-4A01-B62D-EF43E6D095F8}"/>
              </a:ext>
            </a:extLst>
          </p:cNvPr>
          <p:cNvGrpSpPr/>
          <p:nvPr/>
        </p:nvGrpSpPr>
        <p:grpSpPr>
          <a:xfrm>
            <a:off x="9126764" y="1618650"/>
            <a:ext cx="724983" cy="1400402"/>
            <a:chOff x="9508371" y="1783105"/>
            <a:chExt cx="724983" cy="1400402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BBD83704-85FF-46AF-BB8D-ADE7C570A611}"/>
                </a:ext>
              </a:extLst>
            </p:cNvPr>
            <p:cNvGrpSpPr/>
            <p:nvPr/>
          </p:nvGrpSpPr>
          <p:grpSpPr>
            <a:xfrm>
              <a:off x="9508371" y="1783105"/>
              <a:ext cx="724983" cy="1400402"/>
              <a:chOff x="9508371" y="1783105"/>
              <a:chExt cx="724983" cy="1400402"/>
            </a:xfrm>
          </p:grpSpPr>
          <p:sp>
            <p:nvSpPr>
              <p:cNvPr id="232" name="사각형: 둥근 모서리 231">
                <a:extLst>
                  <a:ext uri="{FF2B5EF4-FFF2-40B4-BE49-F238E27FC236}">
                    <a16:creationId xmlns:a16="http://schemas.microsoft.com/office/drawing/2014/main" id="{BC5E096B-4C92-4662-AF18-4862C7013BE9}"/>
                  </a:ext>
                </a:extLst>
              </p:cNvPr>
              <p:cNvSpPr/>
              <p:nvPr/>
            </p:nvSpPr>
            <p:spPr>
              <a:xfrm>
                <a:off x="9508371" y="1783105"/>
                <a:ext cx="724983" cy="140040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4" name="타원 233">
                <a:extLst>
                  <a:ext uri="{FF2B5EF4-FFF2-40B4-BE49-F238E27FC236}">
                    <a16:creationId xmlns:a16="http://schemas.microsoft.com/office/drawing/2014/main" id="{25BD9B49-54F3-40EA-851D-6CEB064B16BF}"/>
                  </a:ext>
                </a:extLst>
              </p:cNvPr>
              <p:cNvSpPr/>
              <p:nvPr/>
            </p:nvSpPr>
            <p:spPr>
              <a:xfrm>
                <a:off x="9603057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D8466F19-57AA-4580-93F5-4F1B81B516C5}"/>
                  </a:ext>
                </a:extLst>
              </p:cNvPr>
              <p:cNvSpPr/>
              <p:nvPr/>
            </p:nvSpPr>
            <p:spPr>
              <a:xfrm>
                <a:off x="9603057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6" name="타원 235">
                <a:extLst>
                  <a:ext uri="{FF2B5EF4-FFF2-40B4-BE49-F238E27FC236}">
                    <a16:creationId xmlns:a16="http://schemas.microsoft.com/office/drawing/2014/main" id="{68D63BAB-BE73-4F06-B192-1B9720CB6925}"/>
                  </a:ext>
                </a:extLst>
              </p:cNvPr>
              <p:cNvSpPr/>
              <p:nvPr/>
            </p:nvSpPr>
            <p:spPr>
              <a:xfrm>
                <a:off x="9603057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7" name="타원 236">
                <a:extLst>
                  <a:ext uri="{FF2B5EF4-FFF2-40B4-BE49-F238E27FC236}">
                    <a16:creationId xmlns:a16="http://schemas.microsoft.com/office/drawing/2014/main" id="{3579FD67-08A9-482F-A1AC-AE94F1CEA2DE}"/>
                  </a:ext>
                </a:extLst>
              </p:cNvPr>
              <p:cNvSpPr/>
              <p:nvPr/>
            </p:nvSpPr>
            <p:spPr>
              <a:xfrm>
                <a:off x="9603057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8" name="타원 237">
                <a:extLst>
                  <a:ext uri="{FF2B5EF4-FFF2-40B4-BE49-F238E27FC236}">
                    <a16:creationId xmlns:a16="http://schemas.microsoft.com/office/drawing/2014/main" id="{FB4CFE96-839C-4388-9E20-E0E55FBE7F91}"/>
                  </a:ext>
                </a:extLst>
              </p:cNvPr>
              <p:cNvSpPr/>
              <p:nvPr/>
            </p:nvSpPr>
            <p:spPr>
              <a:xfrm>
                <a:off x="9985778" y="1956496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39" name="타원 238">
                <a:extLst>
                  <a:ext uri="{FF2B5EF4-FFF2-40B4-BE49-F238E27FC236}">
                    <a16:creationId xmlns:a16="http://schemas.microsoft.com/office/drawing/2014/main" id="{46A3198E-FF8A-4F6A-9646-E211AA6DD663}"/>
                  </a:ext>
                </a:extLst>
              </p:cNvPr>
              <p:cNvSpPr/>
              <p:nvPr/>
            </p:nvSpPr>
            <p:spPr>
              <a:xfrm>
                <a:off x="9985778" y="2268242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40" name="타원 239">
                <a:extLst>
                  <a:ext uri="{FF2B5EF4-FFF2-40B4-BE49-F238E27FC236}">
                    <a16:creationId xmlns:a16="http://schemas.microsoft.com/office/drawing/2014/main" id="{F2BA04EA-C7B3-447C-9959-03FB9A569A37}"/>
                  </a:ext>
                </a:extLst>
              </p:cNvPr>
              <p:cNvSpPr/>
              <p:nvPr/>
            </p:nvSpPr>
            <p:spPr>
              <a:xfrm>
                <a:off x="9985778" y="2579988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241" name="타원 240">
                <a:extLst>
                  <a:ext uri="{FF2B5EF4-FFF2-40B4-BE49-F238E27FC236}">
                    <a16:creationId xmlns:a16="http://schemas.microsoft.com/office/drawing/2014/main" id="{6019053D-09BC-4250-B01C-F637B4D428AE}"/>
                  </a:ext>
                </a:extLst>
              </p:cNvPr>
              <p:cNvSpPr/>
              <p:nvPr/>
            </p:nvSpPr>
            <p:spPr>
              <a:xfrm>
                <a:off x="9985778" y="2891735"/>
                <a:ext cx="164831" cy="1648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ED2B758C-E2E3-418A-83CB-8B3B341E9377}"/>
                  </a:ext>
                </a:extLst>
              </p:cNvPr>
              <p:cNvCxnSpPr>
                <a:stCxn id="234" idx="6"/>
                <a:endCxn id="238" idx="2"/>
              </p:cNvCxnSpPr>
              <p:nvPr/>
            </p:nvCxnSpPr>
            <p:spPr>
              <a:xfrm>
                <a:off x="9767888" y="2038912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E03CEDD0-B507-4BF4-9376-D8005D4EAA78}"/>
                  </a:ext>
                </a:extLst>
              </p:cNvPr>
              <p:cNvCxnSpPr>
                <a:cxnSpLocks/>
                <a:stCxn id="235" idx="6"/>
                <a:endCxn id="239" idx="2"/>
              </p:cNvCxnSpPr>
              <p:nvPr/>
            </p:nvCxnSpPr>
            <p:spPr>
              <a:xfrm>
                <a:off x="9767888" y="2350658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D9F5F0D3-5AD9-4443-806B-9FC4D4758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662404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484F874A-F2D7-472B-8AD6-D98449169B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7888" y="2974150"/>
                <a:ext cx="2178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BAF4AB8D-4D5F-4495-A290-4046F3549A6C}"/>
                  </a:ext>
                </a:extLst>
              </p:cNvPr>
              <p:cNvCxnSpPr>
                <a:cxnSpLocks/>
                <a:stCxn id="234" idx="5"/>
                <a:endCxn id="241" idx="1"/>
              </p:cNvCxnSpPr>
              <p:nvPr/>
            </p:nvCxnSpPr>
            <p:spPr>
              <a:xfrm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7556E84-6BDA-4EAB-96C7-64805FFEC227}"/>
                  </a:ext>
                </a:extLst>
              </p:cNvPr>
              <p:cNvCxnSpPr>
                <a:cxnSpLocks/>
                <a:stCxn id="237" idx="7"/>
                <a:endCxn id="238" idx="3"/>
              </p:cNvCxnSpPr>
              <p:nvPr/>
            </p:nvCxnSpPr>
            <p:spPr>
              <a:xfrm flipV="1">
                <a:off x="9743749" y="2097188"/>
                <a:ext cx="266168" cy="818686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>
                <a:extLst>
                  <a:ext uri="{FF2B5EF4-FFF2-40B4-BE49-F238E27FC236}">
                    <a16:creationId xmlns:a16="http://schemas.microsoft.com/office/drawing/2014/main" id="{078EB9AA-250E-43EA-B6F0-0AA263EFFC89}"/>
                  </a:ext>
                </a:extLst>
              </p:cNvPr>
              <p:cNvCxnSpPr>
                <a:cxnSpLocks/>
                <a:stCxn id="239" idx="3"/>
                <a:endCxn id="236" idx="7"/>
              </p:cNvCxnSpPr>
              <p:nvPr/>
            </p:nvCxnSpPr>
            <p:spPr>
              <a:xfrm flipH="1"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직선 연결선 255">
                <a:extLst>
                  <a:ext uri="{FF2B5EF4-FFF2-40B4-BE49-F238E27FC236}">
                    <a16:creationId xmlns:a16="http://schemas.microsoft.com/office/drawing/2014/main" id="{9A26316D-DD28-4A50-A04F-A023E74A8A06}"/>
                  </a:ext>
                </a:extLst>
              </p:cNvPr>
              <p:cNvCxnSpPr>
                <a:cxnSpLocks/>
                <a:stCxn id="235" idx="5"/>
                <a:endCxn id="240" idx="1"/>
              </p:cNvCxnSpPr>
              <p:nvPr/>
            </p:nvCxnSpPr>
            <p:spPr>
              <a:xfrm>
                <a:off x="9743749" y="2408934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EF9CC7C2-3BE0-464D-A4BF-664932E75252}"/>
                  </a:ext>
                </a:extLst>
              </p:cNvPr>
              <p:cNvCxnSpPr>
                <a:cxnSpLocks/>
                <a:stCxn id="241" idx="1"/>
                <a:endCxn id="236" idx="5"/>
              </p:cNvCxnSpPr>
              <p:nvPr/>
            </p:nvCxnSpPr>
            <p:spPr>
              <a:xfrm flipH="1" flipV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C5AD8A9-F5D4-47C7-A5E1-CCFA5D10200D}"/>
                  </a:ext>
                </a:extLst>
              </p:cNvPr>
              <p:cNvCxnSpPr>
                <a:cxnSpLocks/>
                <a:stCxn id="240" idx="3"/>
                <a:endCxn id="237" idx="7"/>
              </p:cNvCxnSpPr>
              <p:nvPr/>
            </p:nvCxnSpPr>
            <p:spPr>
              <a:xfrm flipH="1">
                <a:off x="9743749" y="2720680"/>
                <a:ext cx="266168" cy="19519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0985B019-76F6-4BA3-B121-88AA0D72B493}"/>
                  </a:ext>
                </a:extLst>
              </p:cNvPr>
              <p:cNvCxnSpPr>
                <a:cxnSpLocks/>
                <a:stCxn id="239" idx="1"/>
                <a:endCxn id="234" idx="5"/>
              </p:cNvCxnSpPr>
              <p:nvPr/>
            </p:nvCxnSpPr>
            <p:spPr>
              <a:xfrm flipH="1" flipV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0FE11149-AA67-449A-9CED-4AB0DC943BE6}"/>
                  </a:ext>
                </a:extLst>
              </p:cNvPr>
              <p:cNvCxnSpPr>
                <a:cxnSpLocks/>
                <a:stCxn id="238" idx="3"/>
                <a:endCxn id="235" idx="7"/>
              </p:cNvCxnSpPr>
              <p:nvPr/>
            </p:nvCxnSpPr>
            <p:spPr>
              <a:xfrm flipH="1">
                <a:off x="9743749" y="2097188"/>
                <a:ext cx="266168" cy="19519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4" name="처리 7">
              <a:extLst>
                <a:ext uri="{FF2B5EF4-FFF2-40B4-BE49-F238E27FC236}">
                  <a16:creationId xmlns:a16="http://schemas.microsoft.com/office/drawing/2014/main" id="{5937C9A2-B112-414B-963A-C6781B7B492F}"/>
                </a:ext>
              </a:extLst>
            </p:cNvPr>
            <p:cNvSpPr/>
            <p:nvPr/>
          </p:nvSpPr>
          <p:spPr>
            <a:xfrm>
              <a:off x="9562427" y="2327029"/>
              <a:ext cx="618366" cy="322997"/>
            </a:xfrm>
            <a:prstGeom prst="flowChartProcess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34" charset="-127"/>
                  <a:cs typeface="+mn-cs"/>
                </a:rPr>
                <a:t>MLP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</p:grp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BE2F7FE0-CB44-4D1A-BF1D-ACEA19A84A9F}"/>
              </a:ext>
            </a:extLst>
          </p:cNvPr>
          <p:cNvCxnSpPr>
            <a:cxnSpLocks/>
            <a:stCxn id="150" idx="3"/>
            <a:endCxn id="232" idx="1"/>
          </p:cNvCxnSpPr>
          <p:nvPr/>
        </p:nvCxnSpPr>
        <p:spPr>
          <a:xfrm>
            <a:off x="8941802" y="2318851"/>
            <a:ext cx="1849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" name="직선 화살표 연결선 327">
            <a:extLst>
              <a:ext uri="{FF2B5EF4-FFF2-40B4-BE49-F238E27FC236}">
                <a16:creationId xmlns:a16="http://schemas.microsoft.com/office/drawing/2014/main" id="{3E5A2E8E-DCE1-49C3-A7E4-42ECD0259DC3}"/>
              </a:ext>
            </a:extLst>
          </p:cNvPr>
          <p:cNvCxnSpPr>
            <a:cxnSpLocks/>
            <a:stCxn id="232" idx="3"/>
            <a:endCxn id="335" idx="1"/>
          </p:cNvCxnSpPr>
          <p:nvPr/>
        </p:nvCxnSpPr>
        <p:spPr>
          <a:xfrm>
            <a:off x="9851747" y="2318851"/>
            <a:ext cx="210031" cy="5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처리 7">
            <a:extLst>
              <a:ext uri="{FF2B5EF4-FFF2-40B4-BE49-F238E27FC236}">
                <a16:creationId xmlns:a16="http://schemas.microsoft.com/office/drawing/2014/main" id="{CD9FCB93-8841-476D-9AC4-B1C91CDCB54B}"/>
              </a:ext>
            </a:extLst>
          </p:cNvPr>
          <p:cNvSpPr/>
          <p:nvPr/>
        </p:nvSpPr>
        <p:spPr>
          <a:xfrm>
            <a:off x="10061778" y="2162574"/>
            <a:ext cx="1248692" cy="322997"/>
          </a:xfrm>
          <a:prstGeom prst="flowChartProcess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Preference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t>score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34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6D5825E-A191-432C-9681-6D975223B63F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2D6E36-A716-4D04-A113-4EC11E85403A}"/>
              </a:ext>
            </a:extLst>
          </p:cNvPr>
          <p:cNvSpPr txBox="1"/>
          <p:nvPr/>
        </p:nvSpPr>
        <p:spPr>
          <a:xfrm>
            <a:off x="203625" y="185807"/>
            <a:ext cx="11837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03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발명의 특징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| (300)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식사 평가 모델 생성 모듈 </a:t>
            </a:r>
            <a:r>
              <a:rPr lang="en-US" altLang="ko-KR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(320) </a:t>
            </a:r>
            <a:r>
              <a:rPr lang="ko-KR" altLang="en-US" sz="200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맞춤 선호 및 조합 평가 모델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56F6C6-3FF8-491E-807D-CE66CB3349A9}"/>
              </a:ext>
            </a:extLst>
          </p:cNvPr>
          <p:cNvSpPr txBox="1"/>
          <p:nvPr/>
        </p:nvSpPr>
        <p:spPr>
          <a:xfrm>
            <a:off x="203625" y="710667"/>
            <a:ext cx="11784750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8703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1">
                <a:solidFill>
                  <a:srgbClr val="7030A0"/>
                </a:solidFill>
              </a:rPr>
              <a:t>[322] GNN </a:t>
            </a:r>
            <a:r>
              <a:rPr lang="ko-KR" altLang="en-US" sz="1600" b="1">
                <a:solidFill>
                  <a:srgbClr val="7030A0"/>
                </a:solidFill>
              </a:rPr>
              <a:t>모델 구축 단계 </a:t>
            </a:r>
            <a:endParaRPr lang="ko-KR" altLang="ko-KR" b="1">
              <a:solidFill>
                <a:srgbClr val="7030A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AA0FBA-4C6B-4A82-9657-7237077EF209}"/>
              </a:ext>
            </a:extLst>
          </p:cNvPr>
          <p:cNvSpPr txBox="1"/>
          <p:nvPr/>
        </p:nvSpPr>
        <p:spPr>
          <a:xfrm>
            <a:off x="5816338" y="1249441"/>
            <a:ext cx="5983502" cy="52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상세 프로세스는 하기 두 단계를 포함함</a:t>
            </a:r>
            <a:r>
              <a:rPr lang="en-US" altLang="ko-KR" sz="1400" dirty="0"/>
              <a:t>.</a:t>
            </a:r>
          </a:p>
          <a:p>
            <a:pPr marL="342900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b="1" dirty="0">
                <a:solidFill>
                  <a:srgbClr val="7030A0"/>
                </a:solidFill>
                <a:latin typeface="+mn-ea"/>
              </a:rPr>
              <a:t>그래프 신경망 인코더 구축</a:t>
            </a:r>
            <a:endParaRPr lang="en-US" altLang="ko-KR" sz="1400" b="1" dirty="0">
              <a:solidFill>
                <a:srgbClr val="7030A0"/>
              </a:solidFill>
              <a:latin typeface="+mn-ea"/>
            </a:endParaRPr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이종 그래프의 각 노드에 해당되는 식품</a:t>
            </a:r>
            <a:r>
              <a:rPr lang="en-US" altLang="ko-KR" sz="1400" dirty="0"/>
              <a:t>, </a:t>
            </a:r>
            <a:r>
              <a:rPr lang="ko-KR" altLang="en-US" sz="1400" dirty="0"/>
              <a:t>사용자</a:t>
            </a:r>
            <a:r>
              <a:rPr lang="en-US" altLang="ko-KR" sz="1400" dirty="0"/>
              <a:t>, </a:t>
            </a:r>
            <a:r>
              <a:rPr lang="ko-KR" altLang="en-US" sz="1400" dirty="0"/>
              <a:t>재료</a:t>
            </a:r>
            <a:r>
              <a:rPr lang="en-US" altLang="ko-KR" sz="1400" dirty="0"/>
              <a:t>, </a:t>
            </a:r>
            <a:r>
              <a:rPr lang="ko-KR" altLang="en-US" sz="1400"/>
              <a:t>식사 끼니의 </a:t>
            </a:r>
            <a:r>
              <a:rPr lang="ko-KR" altLang="en-US" sz="1400" dirty="0"/>
              <a:t>초기 특징 벡터를 입력으로 받아 </a:t>
            </a:r>
            <a:r>
              <a:rPr lang="ko-KR" altLang="en-US" sz="1400" b="1" dirty="0">
                <a:solidFill>
                  <a:srgbClr val="7030A0"/>
                </a:solidFill>
              </a:rPr>
              <a:t>각 노드의 </a:t>
            </a:r>
            <a:r>
              <a:rPr lang="ko-KR" altLang="en-US" sz="1400" b="1" dirty="0" err="1">
                <a:solidFill>
                  <a:srgbClr val="7030A0"/>
                </a:solidFill>
              </a:rPr>
              <a:t>임베딩을</a:t>
            </a:r>
            <a:r>
              <a:rPr lang="ko-KR" altLang="en-US" sz="1400" b="1" dirty="0">
                <a:solidFill>
                  <a:srgbClr val="7030A0"/>
                </a:solidFill>
              </a:rPr>
              <a:t> 생성하는 그래프 </a:t>
            </a:r>
            <a:r>
              <a:rPr lang="ko-KR" altLang="en-US" sz="1400" b="1" dirty="0" err="1">
                <a:solidFill>
                  <a:srgbClr val="7030A0"/>
                </a:solidFill>
              </a:rPr>
              <a:t>뉴럴</a:t>
            </a:r>
            <a:r>
              <a:rPr lang="ko-KR" altLang="en-US" sz="1400" b="1" dirty="0">
                <a:solidFill>
                  <a:srgbClr val="7030A0"/>
                </a:solidFill>
              </a:rPr>
              <a:t> 네트워크</a:t>
            </a:r>
            <a:r>
              <a:rPr lang="en-US" altLang="ko-KR" sz="1400" b="1" dirty="0">
                <a:solidFill>
                  <a:srgbClr val="7030A0"/>
                </a:solidFill>
              </a:rPr>
              <a:t>(GNN) </a:t>
            </a:r>
            <a:r>
              <a:rPr lang="ko-KR" altLang="en-US" sz="1400" b="1" dirty="0">
                <a:solidFill>
                  <a:srgbClr val="7030A0"/>
                </a:solidFill>
              </a:rPr>
              <a:t>인코더를 구축</a:t>
            </a:r>
            <a:r>
              <a:rPr lang="ko-KR" altLang="en-US" sz="1400" dirty="0"/>
              <a:t>함</a:t>
            </a:r>
            <a:r>
              <a:rPr lang="en-US" altLang="ko-KR" sz="1400" dirty="0"/>
              <a:t>. </a:t>
            </a:r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해당 인코더는 </a:t>
            </a:r>
            <a:r>
              <a:rPr lang="en-US" altLang="ko-KR" sz="1400" dirty="0" err="1"/>
              <a:t>HeteroConv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GATConv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결합한 구조를 사용하며</a:t>
            </a:r>
            <a:r>
              <a:rPr lang="en-US" altLang="ko-KR" sz="1400" dirty="0"/>
              <a:t>, </a:t>
            </a:r>
            <a:r>
              <a:rPr lang="ko-KR" altLang="en-US" sz="1400" dirty="0"/>
              <a:t>다중 헤드 </a:t>
            </a:r>
            <a:r>
              <a:rPr lang="ko-KR" altLang="en-US" sz="1400" dirty="0" err="1"/>
              <a:t>어텐션</a:t>
            </a:r>
            <a:r>
              <a:rPr lang="ko-KR" altLang="en-US" sz="1400" dirty="0"/>
              <a:t> 메커니즘을 사용하여 노드 간의 중요도 학습을 통해 이종 그래프의 특성을 효과적으로 학습할 수 있도록 설계되었음</a:t>
            </a:r>
            <a:r>
              <a:rPr lang="en-US" altLang="ko-KR" sz="1400" dirty="0"/>
              <a:t>.</a:t>
            </a:r>
          </a:p>
          <a:p>
            <a:pPr marL="342900" lvl="0" indent="-342900" latinLnBrk="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b="1" dirty="0">
                <a:solidFill>
                  <a:srgbClr val="7030A0"/>
                </a:solidFill>
                <a:latin typeface="+mn-ea"/>
              </a:rPr>
              <a:t>조합 및 선호도 </a:t>
            </a:r>
            <a:r>
              <a:rPr lang="ko-KR" altLang="en-US" sz="1400" b="1" dirty="0" err="1">
                <a:solidFill>
                  <a:srgbClr val="7030A0"/>
                </a:solidFill>
                <a:latin typeface="+mn-ea"/>
              </a:rPr>
              <a:t>디코더</a:t>
            </a:r>
            <a:r>
              <a:rPr lang="ko-KR" altLang="en-US" sz="1400" b="1" dirty="0">
                <a:solidFill>
                  <a:srgbClr val="7030A0"/>
                </a:solidFill>
                <a:latin typeface="+mn-ea"/>
              </a:rPr>
              <a:t> 구축</a:t>
            </a:r>
            <a:endParaRPr lang="en-US" altLang="ko-KR" sz="1400" b="1" dirty="0">
              <a:solidFill>
                <a:srgbClr val="7030A0"/>
              </a:solidFill>
              <a:latin typeface="+mn-ea"/>
            </a:endParaRPr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두 노드의 </a:t>
            </a:r>
            <a:r>
              <a:rPr lang="ko-KR" altLang="en-US" sz="1400" dirty="0" err="1"/>
              <a:t>임베딩</a:t>
            </a:r>
            <a:r>
              <a:rPr lang="ko-KR" altLang="en-US" sz="1400" dirty="0"/>
              <a:t> 벡터를 입력 변수로 받으면 </a:t>
            </a:r>
            <a:r>
              <a:rPr lang="ko-KR" altLang="en-US" sz="1400" b="1" dirty="0">
                <a:solidFill>
                  <a:srgbClr val="7030A0"/>
                </a:solidFill>
              </a:rPr>
              <a:t>두 노드 사이의 </a:t>
            </a:r>
            <a:r>
              <a:rPr lang="ko-KR" altLang="en-US" sz="1400" b="1" dirty="0" err="1">
                <a:solidFill>
                  <a:srgbClr val="7030A0"/>
                </a:solidFill>
              </a:rPr>
              <a:t>엣지가</a:t>
            </a:r>
            <a:r>
              <a:rPr lang="ko-KR" altLang="en-US" sz="1400" b="1" dirty="0">
                <a:solidFill>
                  <a:srgbClr val="7030A0"/>
                </a:solidFill>
              </a:rPr>
              <a:t> 존재할 확률을 </a:t>
            </a:r>
            <a:r>
              <a:rPr lang="en-US" altLang="ko-KR" sz="1400" b="1" dirty="0">
                <a:solidFill>
                  <a:srgbClr val="7030A0"/>
                </a:solidFill>
              </a:rPr>
              <a:t>0</a:t>
            </a:r>
            <a:r>
              <a:rPr lang="ko-KR" altLang="en-US" sz="1400" b="1" dirty="0">
                <a:solidFill>
                  <a:srgbClr val="7030A0"/>
                </a:solidFill>
              </a:rPr>
              <a:t>에서 </a:t>
            </a:r>
            <a:r>
              <a:rPr lang="en-US" altLang="ko-KR" sz="1400" b="1" dirty="0">
                <a:solidFill>
                  <a:srgbClr val="7030A0"/>
                </a:solidFill>
              </a:rPr>
              <a:t>1</a:t>
            </a:r>
            <a:r>
              <a:rPr lang="ko-KR" altLang="en-US" sz="1400" b="1" dirty="0">
                <a:solidFill>
                  <a:srgbClr val="7030A0"/>
                </a:solidFill>
              </a:rPr>
              <a:t>사이의 값으로 예측하는 </a:t>
            </a:r>
            <a:r>
              <a:rPr lang="ko-KR" altLang="en-US" sz="1400" b="1" dirty="0" err="1">
                <a:solidFill>
                  <a:srgbClr val="7030A0"/>
                </a:solidFill>
              </a:rPr>
              <a:t>디코더를</a:t>
            </a:r>
            <a:r>
              <a:rPr lang="ko-KR" altLang="en-US" sz="1400" b="1" dirty="0">
                <a:solidFill>
                  <a:srgbClr val="7030A0"/>
                </a:solidFill>
              </a:rPr>
              <a:t> 구축</a:t>
            </a:r>
            <a:r>
              <a:rPr lang="ko-KR" altLang="en-US" sz="1400" dirty="0"/>
              <a:t>함</a:t>
            </a:r>
            <a:r>
              <a:rPr lang="en-US" altLang="ko-KR" sz="1400" dirty="0"/>
              <a:t>. </a:t>
            </a:r>
          </a:p>
          <a:p>
            <a:pPr marL="800100" lvl="1" indent="-3429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해당 과정에서는 두 노드의 각 벡터를 </a:t>
            </a:r>
            <a:r>
              <a:rPr lang="en-US" altLang="ko-KR" sz="1400" dirty="0"/>
              <a:t>1</a:t>
            </a:r>
            <a:r>
              <a:rPr lang="ko-KR" altLang="en-US" sz="1400" dirty="0"/>
              <a:t>차원 벡터로 합친 후 두 개의 선형 레이어에 통과시키고 최종 출력에 </a:t>
            </a:r>
            <a:r>
              <a:rPr lang="ko-KR" altLang="en-US" sz="1400" dirty="0" err="1"/>
              <a:t>시그모이드</a:t>
            </a:r>
            <a:r>
              <a:rPr lang="ko-KR" altLang="en-US" sz="1400" dirty="0"/>
              <a:t> 함수를 적용하여 </a:t>
            </a:r>
            <a:r>
              <a:rPr lang="en-US" altLang="ko-KR" sz="1400" dirty="0"/>
              <a:t>0</a:t>
            </a:r>
            <a:r>
              <a:rPr lang="ko-KR" altLang="en-US" sz="1400" dirty="0"/>
              <a:t>에서 </a:t>
            </a:r>
            <a:r>
              <a:rPr lang="en-US" altLang="ko-KR" sz="1400" dirty="0"/>
              <a:t>1 </a:t>
            </a:r>
            <a:r>
              <a:rPr lang="ko-KR" altLang="en-US" sz="1400" dirty="0"/>
              <a:t>사이의 값으로 </a:t>
            </a:r>
            <a:r>
              <a:rPr lang="ko-KR" altLang="en-US" sz="1400" dirty="0" err="1"/>
              <a:t>정규화함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BCEF3D51-22FE-4790-9916-DCCCAAB5E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5" y="3709556"/>
            <a:ext cx="5104530" cy="282730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D8CC7F46-084C-4F6C-9CD0-374D397942AD}"/>
              </a:ext>
            </a:extLst>
          </p:cNvPr>
          <p:cNvGrpSpPr/>
          <p:nvPr/>
        </p:nvGrpSpPr>
        <p:grpSpPr>
          <a:xfrm>
            <a:off x="1148677" y="1349486"/>
            <a:ext cx="3877948" cy="2079514"/>
            <a:chOff x="1148677" y="1458522"/>
            <a:chExt cx="3877948" cy="207951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D6F8F6C-ECD2-4E49-A949-D7F747B1DAC1}"/>
                </a:ext>
              </a:extLst>
            </p:cNvPr>
            <p:cNvSpPr/>
            <p:nvPr/>
          </p:nvSpPr>
          <p:spPr>
            <a:xfrm>
              <a:off x="1148677" y="1584532"/>
              <a:ext cx="3143163" cy="195350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dist="25400" dir="252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1404000" rtlCol="0" anchor="ctr"/>
            <a:lstStyle/>
            <a:p>
              <a:pPr algn="ctr"/>
              <a:r>
                <a:rPr lang="en-US" altLang="ko-KR" b="1">
                  <a:solidFill>
                    <a:sysClr val="windowText" lastClr="000000"/>
                  </a:solidFill>
                  <a:latin typeface="+mn-ea"/>
                </a:rPr>
                <a:t>GNN</a:t>
              </a:r>
              <a:r>
                <a:rPr lang="ko-KR" altLang="en-US" b="1">
                  <a:solidFill>
                    <a:sysClr val="windowText" lastClr="000000"/>
                  </a:solidFill>
                  <a:latin typeface="+mn-ea"/>
                </a:rPr>
                <a:t> 모델 구축</a:t>
              </a:r>
              <a:endParaRPr lang="en-US" altLang="ko-KR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10" name="구부러진 연결선 20">
              <a:extLst>
                <a:ext uri="{FF2B5EF4-FFF2-40B4-BE49-F238E27FC236}">
                  <a16:creationId xmlns:a16="http://schemas.microsoft.com/office/drawing/2014/main" id="{7D9EF13A-E6C4-460F-85F3-060D2BE19D6E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4332025" y="1640298"/>
              <a:ext cx="130022" cy="94494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80FB96-4E45-4A28-9A68-80BAB2B5A37B}"/>
                </a:ext>
              </a:extLst>
            </p:cNvPr>
            <p:cNvSpPr txBox="1"/>
            <p:nvPr/>
          </p:nvSpPr>
          <p:spPr>
            <a:xfrm>
              <a:off x="4462047" y="1458522"/>
              <a:ext cx="564578" cy="363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</a:rPr>
                <a:t>322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879B717-58B1-4E10-9BED-8F0DAD491D57}"/>
                </a:ext>
              </a:extLst>
            </p:cNvPr>
            <p:cNvSpPr/>
            <p:nvPr/>
          </p:nvSpPr>
          <p:spPr>
            <a:xfrm>
              <a:off x="1222709" y="2240559"/>
              <a:ext cx="2997185" cy="4820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ysClr val="windowText" lastClr="000000"/>
                  </a:solidFill>
                  <a:latin typeface="+mn-ea"/>
                </a:rPr>
                <a:t>그래프 신경망 인코더 구축</a:t>
              </a:r>
              <a:endParaRPr lang="en-US" altLang="ko-KR" sz="16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2760BF2-B8B0-40F6-94E8-6289B5B39822}"/>
                </a:ext>
              </a:extLst>
            </p:cNvPr>
            <p:cNvSpPr/>
            <p:nvPr/>
          </p:nvSpPr>
          <p:spPr>
            <a:xfrm>
              <a:off x="1222709" y="2906390"/>
              <a:ext cx="2997185" cy="4820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ysClr val="windowText" lastClr="000000"/>
                  </a:solidFill>
                  <a:latin typeface="+mn-ea"/>
                </a:rPr>
                <a:t>조합 및 선호도 디코더 구축</a:t>
              </a:r>
              <a:endParaRPr lang="en-US" altLang="ko-KR" sz="16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F57557D-ACFC-412C-8C92-C8DBA004BC7D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2721302" y="2722579"/>
              <a:ext cx="0" cy="18381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9464CA-3F60-45F8-B19E-4CF800B68CE5}"/>
              </a:ext>
            </a:extLst>
          </p:cNvPr>
          <p:cNvSpPr/>
          <p:nvPr/>
        </p:nvSpPr>
        <p:spPr>
          <a:xfrm>
            <a:off x="537692" y="6527080"/>
            <a:ext cx="4381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도면 </a:t>
            </a:r>
            <a:r>
              <a:rPr kumimoji="1" lang="en-US" altLang="ko-KR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7. </a:t>
            </a:r>
            <a:r>
              <a:rPr kumimoji="1" lang="ko-KR" altLang="en-US" sz="1200" kern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+mn-ea"/>
              </a:rPr>
              <a:t>사용자 맞춤 선호 및 조합 평가 모델 구축 단계</a:t>
            </a:r>
          </a:p>
        </p:txBody>
      </p:sp>
    </p:spTree>
    <p:extLst>
      <p:ext uri="{BB962C8B-B14F-4D97-AF65-F5344CB8AC3E}">
        <p14:creationId xmlns:p14="http://schemas.microsoft.com/office/powerpoint/2010/main" val="248828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종이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1783</Words>
  <Application>Microsoft Macintosh PowerPoint</Application>
  <PresentationFormat>와이드스크린</PresentationFormat>
  <Paragraphs>414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G마켓 산스 TTF Bold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Heejeong Hwang</dc:creator>
  <cp:lastModifiedBy>Heejeong Hwang</cp:lastModifiedBy>
  <cp:revision>1</cp:revision>
  <dcterms:created xsi:type="dcterms:W3CDTF">2024-09-09T05:57:33Z</dcterms:created>
  <dcterms:modified xsi:type="dcterms:W3CDTF">2024-09-09T06:00:12Z</dcterms:modified>
</cp:coreProperties>
</file>